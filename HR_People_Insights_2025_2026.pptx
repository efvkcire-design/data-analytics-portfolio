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0" d="100"/>
          <a:sy n="160" d="100"/>
        </p:scale>
        <p:origin x="2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0845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5298"/>
          </a:solidFill>
          <a:ln w="12700">
            <a:solidFill>
              <a:srgbClr val="2A5298"/>
            </a:solidFill>
            <a:prstDash val="solid"/>
          </a:ln>
        </p:spPr>
        <p:txBody>
          <a:bodyPr/>
          <a:lstStyle/>
          <a:p>
            <a:endParaRPr lang="en-US"/>
          </a:p>
        </p:txBody>
      </p:sp>
      <p:sp>
        <p:nvSpPr>
          <p:cNvPr id="3" name="Shape 1"/>
          <p:cNvSpPr/>
          <p:nvPr/>
        </p:nvSpPr>
        <p:spPr>
          <a:xfrm>
            <a:off x="7132320" y="-457200"/>
            <a:ext cx="3200400" cy="3200400"/>
          </a:xfrm>
          <a:prstGeom prst="ellipse">
            <a:avLst/>
          </a:prstGeom>
          <a:solidFill>
            <a:srgbClr val="48CAE4">
              <a:alpha val="25000"/>
            </a:srgbClr>
          </a:solidFill>
          <a:ln w="12700">
            <a:solidFill>
              <a:srgbClr val="48CAE4">
                <a:alpha val="25000"/>
              </a:srgbClr>
            </a:solidFill>
            <a:prstDash val="solid"/>
          </a:ln>
        </p:spPr>
        <p:txBody>
          <a:bodyPr/>
          <a:lstStyle/>
          <a:p>
            <a:endParaRPr lang="en-US"/>
          </a:p>
        </p:txBody>
      </p:sp>
      <p:sp>
        <p:nvSpPr>
          <p:cNvPr id="4" name="Shape 2"/>
          <p:cNvSpPr/>
          <p:nvPr/>
        </p:nvSpPr>
        <p:spPr>
          <a:xfrm>
            <a:off x="7772400" y="2926080"/>
            <a:ext cx="1828800" cy="1828800"/>
          </a:xfrm>
          <a:prstGeom prst="ellipse">
            <a:avLst/>
          </a:prstGeom>
          <a:solidFill>
            <a:srgbClr val="F5A623">
              <a:alpha val="20000"/>
            </a:srgbClr>
          </a:solidFill>
          <a:ln w="12700">
            <a:solidFill>
              <a:srgbClr val="F5A623">
                <a:alpha val="20000"/>
              </a:srgbClr>
            </a:solidFill>
            <a:prstDash val="solid"/>
          </a:ln>
        </p:spPr>
        <p:txBody>
          <a:bodyPr/>
          <a:lstStyle/>
          <a:p>
            <a:endParaRPr lang="en-US"/>
          </a:p>
        </p:txBody>
      </p:sp>
      <p:sp>
        <p:nvSpPr>
          <p:cNvPr id="5" name="Shape 3"/>
          <p:cNvSpPr/>
          <p:nvPr/>
        </p:nvSpPr>
        <p:spPr>
          <a:xfrm>
            <a:off x="5943600" y="3474720"/>
            <a:ext cx="1097280" cy="1097280"/>
          </a:xfrm>
          <a:prstGeom prst="ellipse">
            <a:avLst/>
          </a:prstGeom>
          <a:solidFill>
            <a:srgbClr val="8E44AD">
              <a:alpha val="20000"/>
            </a:srgbClr>
          </a:solidFill>
          <a:ln w="12700">
            <a:solidFill>
              <a:srgbClr val="8E44AD">
                <a:alpha val="20000"/>
              </a:srgbClr>
            </a:solidFill>
            <a:prstDash val="solid"/>
          </a:ln>
        </p:spPr>
        <p:txBody>
          <a:bodyPr/>
          <a:lstStyle/>
          <a:p>
            <a:endParaRPr lang="en-US"/>
          </a:p>
        </p:txBody>
      </p:sp>
      <p:sp>
        <p:nvSpPr>
          <p:cNvPr id="6" name="Text 4"/>
          <p:cNvSpPr/>
          <p:nvPr/>
        </p:nvSpPr>
        <p:spPr>
          <a:xfrm>
            <a:off x="365760" y="228600"/>
            <a:ext cx="8412480" cy="320040"/>
          </a:xfrm>
          <a:prstGeom prst="rect">
            <a:avLst/>
          </a:prstGeom>
          <a:noFill/>
          <a:ln/>
        </p:spPr>
        <p:txBody>
          <a:bodyPr wrap="square" rtlCol="0" anchor="ctr"/>
          <a:lstStyle/>
          <a:p>
            <a:pPr marL="0" indent="0" algn="l">
              <a:buNone/>
            </a:pPr>
            <a:r>
              <a:rPr lang="en-US" sz="1000" b="1" kern="0" spc="300" dirty="0">
                <a:solidFill>
                  <a:srgbClr val="2A5298"/>
                </a:solidFill>
              </a:rPr>
              <a:t>PEOPLE INSIGHTS REPORT  |2025-2026</a:t>
            </a:r>
            <a:endParaRPr lang="en-US" sz="1000" dirty="0"/>
          </a:p>
        </p:txBody>
      </p:sp>
      <p:sp>
        <p:nvSpPr>
          <p:cNvPr id="7" name="Text 5"/>
          <p:cNvSpPr/>
          <p:nvPr/>
        </p:nvSpPr>
        <p:spPr>
          <a:xfrm>
            <a:off x="365760" y="685800"/>
            <a:ext cx="6858000" cy="2194560"/>
          </a:xfrm>
          <a:prstGeom prst="rect">
            <a:avLst/>
          </a:prstGeom>
          <a:noFill/>
          <a:ln/>
        </p:spPr>
        <p:txBody>
          <a:bodyPr wrap="square" rtlCol="0" anchor="ctr"/>
          <a:lstStyle/>
          <a:p>
            <a:pPr marL="0" indent="0" algn="l">
              <a:buNone/>
            </a:pPr>
            <a:r>
              <a:rPr lang="en-US" sz="5200" b="1" dirty="0">
                <a:solidFill>
                  <a:srgbClr val="1E3A5F"/>
                </a:solidFill>
                <a:latin typeface="Georgia" pitchFamily="34" charset="0"/>
                <a:ea typeface="Georgia" pitchFamily="34" charset="-122"/>
                <a:cs typeface="Georgia" pitchFamily="34" charset="-120"/>
              </a:rPr>
              <a:t>Our People,</a:t>
            </a:r>
            <a:endParaRPr lang="en-US" sz="5200" dirty="0"/>
          </a:p>
          <a:p>
            <a:pPr marL="0" indent="0" algn="l">
              <a:buNone/>
            </a:pPr>
            <a:r>
              <a:rPr lang="en-US" sz="5200" b="1" dirty="0">
                <a:solidFill>
                  <a:srgbClr val="1E3A5F"/>
                </a:solidFill>
                <a:latin typeface="Georgia" pitchFamily="34" charset="0"/>
                <a:ea typeface="Georgia" pitchFamily="34" charset="-122"/>
                <a:cs typeface="Georgia" pitchFamily="34" charset="-120"/>
              </a:rPr>
              <a:t>Our Priority</a:t>
            </a:r>
            <a:endParaRPr lang="en-US" sz="5200" dirty="0"/>
          </a:p>
        </p:txBody>
      </p:sp>
      <p:sp>
        <p:nvSpPr>
          <p:cNvPr id="8" name="Text 6"/>
          <p:cNvSpPr/>
          <p:nvPr/>
        </p:nvSpPr>
        <p:spPr>
          <a:xfrm>
            <a:off x="365760" y="2926080"/>
            <a:ext cx="5943600" cy="822960"/>
          </a:xfrm>
          <a:prstGeom prst="rect">
            <a:avLst/>
          </a:prstGeom>
          <a:noFill/>
          <a:ln/>
        </p:spPr>
        <p:txBody>
          <a:bodyPr wrap="square" rtlCol="0" anchor="ctr"/>
          <a:lstStyle/>
          <a:p>
            <a:pPr marL="0" indent="0" algn="l">
              <a:buNone/>
            </a:pPr>
            <a:r>
              <a:rPr lang="en-US" sz="1600" i="1" dirty="0">
                <a:solidFill>
                  <a:srgbClr val="4A5568"/>
                </a:solidFill>
              </a:rPr>
              <a:t>A bold look at where we stand — and</a:t>
            </a:r>
            <a:endParaRPr lang="en-US" sz="1600" dirty="0"/>
          </a:p>
          <a:p>
            <a:pPr marL="0" indent="0" algn="l">
              <a:buNone/>
            </a:pPr>
            <a:r>
              <a:rPr lang="en-US" sz="1600" i="1" dirty="0">
                <a:solidFill>
                  <a:srgbClr val="4A5568"/>
                </a:solidFill>
              </a:rPr>
              <a:t>where we're headed together.</a:t>
            </a:r>
            <a:endParaRPr lang="en-US" sz="1600" dirty="0"/>
          </a:p>
        </p:txBody>
      </p:sp>
      <p:sp>
        <p:nvSpPr>
          <p:cNvPr id="9" name="Shape 7"/>
          <p:cNvSpPr/>
          <p:nvPr/>
        </p:nvSpPr>
        <p:spPr>
          <a:xfrm>
            <a:off x="0" y="4663440"/>
            <a:ext cx="9144000" cy="480060"/>
          </a:xfrm>
          <a:prstGeom prst="rect">
            <a:avLst/>
          </a:prstGeom>
          <a:solidFill>
            <a:srgbClr val="1E3A5F"/>
          </a:solidFill>
          <a:ln w="12700">
            <a:solidFill>
              <a:srgbClr val="1E3A5F"/>
            </a:solidFill>
            <a:prstDash val="solid"/>
          </a:ln>
        </p:spPr>
        <p:txBody>
          <a:bodyPr/>
          <a:lstStyle/>
          <a:p>
            <a:endParaRPr lang="en-US" dirty="0"/>
          </a:p>
        </p:txBody>
      </p:sp>
      <p:sp>
        <p:nvSpPr>
          <p:cNvPr id="10" name="Text 8"/>
          <p:cNvSpPr/>
          <p:nvPr/>
        </p:nvSpPr>
        <p:spPr>
          <a:xfrm>
            <a:off x="365760" y="4709160"/>
            <a:ext cx="8412480" cy="384048"/>
          </a:xfrm>
          <a:prstGeom prst="rect">
            <a:avLst/>
          </a:prstGeom>
          <a:noFill/>
          <a:ln/>
        </p:spPr>
        <p:txBody>
          <a:bodyPr wrap="square" rtlCol="0" anchor="ctr"/>
          <a:lstStyle/>
          <a:p>
            <a:pPr marL="0" indent="0" algn="l">
              <a:buNone/>
            </a:pPr>
            <a:r>
              <a:rPr lang="en-US" sz="1100" dirty="0">
                <a:solidFill>
                  <a:srgbClr val="FFFFFF"/>
                </a:solidFill>
              </a:rPr>
              <a:t>Presented by Human Resources  |  </a:t>
            </a:r>
            <a:endParaRPr lang="en-US" sz="1100" dirty="0"/>
          </a:p>
        </p:txBody>
      </p:sp>
      <p:sp>
        <p:nvSpPr>
          <p:cNvPr id="11" name="Shape 9"/>
          <p:cNvSpPr/>
          <p:nvPr/>
        </p:nvSpPr>
        <p:spPr>
          <a:xfrm>
            <a:off x="365760" y="3703320"/>
            <a:ext cx="2194560" cy="822960"/>
          </a:xfrm>
          <a:prstGeom prst="rect">
            <a:avLst/>
          </a:prstGeom>
          <a:solidFill>
            <a:srgbClr val="FFFFFF">
              <a:alpha val="60000"/>
            </a:srgbClr>
          </a:solidFill>
          <a:ln w="12700">
            <a:solidFill>
              <a:srgbClr val="2A5298">
                <a:alpha val="50000"/>
              </a:srgbClr>
            </a:solidFill>
            <a:prstDash val="solid"/>
          </a:ln>
        </p:spPr>
        <p:txBody>
          <a:bodyPr/>
          <a:lstStyle/>
          <a:p>
            <a:endParaRPr lang="en-US"/>
          </a:p>
        </p:txBody>
      </p:sp>
      <p:sp>
        <p:nvSpPr>
          <p:cNvPr id="12" name="Text 10"/>
          <p:cNvSpPr/>
          <p:nvPr/>
        </p:nvSpPr>
        <p:spPr>
          <a:xfrm>
            <a:off x="365760" y="3721608"/>
            <a:ext cx="2194560" cy="411480"/>
          </a:xfrm>
          <a:prstGeom prst="rect">
            <a:avLst/>
          </a:prstGeom>
          <a:noFill/>
          <a:ln/>
        </p:spPr>
        <p:txBody>
          <a:bodyPr wrap="square" rtlCol="0" anchor="ctr"/>
          <a:lstStyle/>
          <a:p>
            <a:pPr marL="0" indent="0" algn="ctr">
              <a:buNone/>
            </a:pPr>
            <a:r>
              <a:rPr lang="en-US" sz="2200" b="1" dirty="0">
                <a:solidFill>
                  <a:srgbClr val="2A5298"/>
                </a:solidFill>
              </a:rPr>
              <a:t>47%</a:t>
            </a:r>
            <a:endParaRPr lang="en-US" sz="2200" dirty="0"/>
          </a:p>
        </p:txBody>
      </p:sp>
      <p:sp>
        <p:nvSpPr>
          <p:cNvPr id="13" name="Text 11"/>
          <p:cNvSpPr/>
          <p:nvPr/>
        </p:nvSpPr>
        <p:spPr>
          <a:xfrm>
            <a:off x="365760" y="4133088"/>
            <a:ext cx="2194560" cy="274320"/>
          </a:xfrm>
          <a:prstGeom prst="rect">
            <a:avLst/>
          </a:prstGeom>
          <a:noFill/>
          <a:ln/>
        </p:spPr>
        <p:txBody>
          <a:bodyPr wrap="square" rtlCol="0" anchor="ctr"/>
          <a:lstStyle/>
          <a:p>
            <a:pPr marL="0" indent="0" algn="ctr">
              <a:buNone/>
            </a:pPr>
            <a:r>
              <a:rPr lang="en-US" sz="1000" dirty="0">
                <a:solidFill>
                  <a:srgbClr val="4A5568"/>
                </a:solidFill>
              </a:rPr>
              <a:t>Attrition Rate</a:t>
            </a:r>
            <a:endParaRPr lang="en-US" sz="1000" dirty="0"/>
          </a:p>
        </p:txBody>
      </p:sp>
      <p:sp>
        <p:nvSpPr>
          <p:cNvPr id="14" name="Shape 12"/>
          <p:cNvSpPr/>
          <p:nvPr/>
        </p:nvSpPr>
        <p:spPr>
          <a:xfrm>
            <a:off x="2926080" y="3703320"/>
            <a:ext cx="2194560" cy="822960"/>
          </a:xfrm>
          <a:prstGeom prst="rect">
            <a:avLst/>
          </a:prstGeom>
          <a:solidFill>
            <a:srgbClr val="FFFFFF">
              <a:alpha val="60000"/>
            </a:srgbClr>
          </a:solidFill>
          <a:ln w="12700">
            <a:solidFill>
              <a:srgbClr val="2A5298">
                <a:alpha val="50000"/>
              </a:srgbClr>
            </a:solidFill>
            <a:prstDash val="solid"/>
          </a:ln>
        </p:spPr>
        <p:txBody>
          <a:bodyPr/>
          <a:lstStyle/>
          <a:p>
            <a:endParaRPr lang="en-US"/>
          </a:p>
        </p:txBody>
      </p:sp>
      <p:sp>
        <p:nvSpPr>
          <p:cNvPr id="15" name="Text 13"/>
          <p:cNvSpPr/>
          <p:nvPr/>
        </p:nvSpPr>
        <p:spPr>
          <a:xfrm>
            <a:off x="2926080" y="3721608"/>
            <a:ext cx="2194560" cy="411480"/>
          </a:xfrm>
          <a:prstGeom prst="rect">
            <a:avLst/>
          </a:prstGeom>
          <a:noFill/>
          <a:ln/>
        </p:spPr>
        <p:txBody>
          <a:bodyPr wrap="square" rtlCol="0" anchor="ctr"/>
          <a:lstStyle/>
          <a:p>
            <a:pPr marL="0" indent="0" algn="ctr">
              <a:buNone/>
            </a:pPr>
            <a:r>
              <a:rPr lang="en-US" sz="2200" b="1" dirty="0">
                <a:solidFill>
                  <a:srgbClr val="2A5298"/>
                </a:solidFill>
              </a:rPr>
              <a:t>$335.8M</a:t>
            </a:r>
            <a:endParaRPr lang="en-US" sz="2200" dirty="0"/>
          </a:p>
        </p:txBody>
      </p:sp>
      <p:sp>
        <p:nvSpPr>
          <p:cNvPr id="16" name="Text 14"/>
          <p:cNvSpPr/>
          <p:nvPr/>
        </p:nvSpPr>
        <p:spPr>
          <a:xfrm>
            <a:off x="2926080" y="4133088"/>
            <a:ext cx="2194560" cy="274320"/>
          </a:xfrm>
          <a:prstGeom prst="rect">
            <a:avLst/>
          </a:prstGeom>
          <a:noFill/>
          <a:ln/>
        </p:spPr>
        <p:txBody>
          <a:bodyPr wrap="square" rtlCol="0" anchor="ctr"/>
          <a:lstStyle/>
          <a:p>
            <a:pPr marL="0" indent="0" algn="ctr">
              <a:buNone/>
            </a:pPr>
            <a:r>
              <a:rPr lang="en-US" sz="1000" dirty="0">
                <a:solidFill>
                  <a:srgbClr val="4A5568"/>
                </a:solidFill>
              </a:rPr>
              <a:t>Total Impact</a:t>
            </a:r>
            <a:endParaRPr lang="en-US" sz="1000" dirty="0"/>
          </a:p>
        </p:txBody>
      </p:sp>
      <p:sp>
        <p:nvSpPr>
          <p:cNvPr id="17" name="Shape 15"/>
          <p:cNvSpPr/>
          <p:nvPr/>
        </p:nvSpPr>
        <p:spPr>
          <a:xfrm>
            <a:off x="5486400" y="3703320"/>
            <a:ext cx="2194560" cy="822960"/>
          </a:xfrm>
          <a:prstGeom prst="rect">
            <a:avLst/>
          </a:prstGeom>
          <a:solidFill>
            <a:srgbClr val="FFFFFF">
              <a:alpha val="60000"/>
            </a:srgbClr>
          </a:solidFill>
          <a:ln w="12700">
            <a:solidFill>
              <a:srgbClr val="2A5298">
                <a:alpha val="50000"/>
              </a:srgbClr>
            </a:solidFill>
            <a:prstDash val="solid"/>
          </a:ln>
        </p:spPr>
        <p:txBody>
          <a:bodyPr/>
          <a:lstStyle/>
          <a:p>
            <a:endParaRPr lang="en-US"/>
          </a:p>
        </p:txBody>
      </p:sp>
      <p:sp>
        <p:nvSpPr>
          <p:cNvPr id="18" name="Text 16"/>
          <p:cNvSpPr/>
          <p:nvPr/>
        </p:nvSpPr>
        <p:spPr>
          <a:xfrm>
            <a:off x="5486400" y="3721608"/>
            <a:ext cx="2194560" cy="411480"/>
          </a:xfrm>
          <a:prstGeom prst="rect">
            <a:avLst/>
          </a:prstGeom>
          <a:noFill/>
          <a:ln/>
        </p:spPr>
        <p:txBody>
          <a:bodyPr wrap="square" rtlCol="0" anchor="ctr"/>
          <a:lstStyle/>
          <a:p>
            <a:pPr marL="0" indent="0" algn="ctr">
              <a:buNone/>
            </a:pPr>
            <a:r>
              <a:rPr lang="en-US" sz="2200" b="1" dirty="0">
                <a:solidFill>
                  <a:srgbClr val="2A5298"/>
                </a:solidFill>
              </a:rPr>
              <a:t>14,900+</a:t>
            </a:r>
            <a:endParaRPr lang="en-US" sz="2200" dirty="0"/>
          </a:p>
        </p:txBody>
      </p:sp>
      <p:sp>
        <p:nvSpPr>
          <p:cNvPr id="19" name="Text 17"/>
          <p:cNvSpPr/>
          <p:nvPr/>
        </p:nvSpPr>
        <p:spPr>
          <a:xfrm>
            <a:off x="5486400" y="4133088"/>
            <a:ext cx="2194560" cy="274320"/>
          </a:xfrm>
          <a:prstGeom prst="rect">
            <a:avLst/>
          </a:prstGeom>
          <a:noFill/>
          <a:ln/>
        </p:spPr>
        <p:txBody>
          <a:bodyPr wrap="square" rtlCol="0" anchor="ctr"/>
          <a:lstStyle/>
          <a:p>
            <a:pPr marL="0" indent="0" algn="ctr">
              <a:buNone/>
            </a:pPr>
            <a:r>
              <a:rPr lang="en-US" sz="1000" dirty="0">
                <a:solidFill>
                  <a:srgbClr val="4A5568"/>
                </a:solidFill>
              </a:rPr>
              <a:t>Employees Analyzed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200" b="1" kern="0" spc="200" dirty="0">
                <a:solidFill>
                  <a:srgbClr val="FFFFFF"/>
                </a:solidFill>
              </a:rPr>
              <a:t>THE BIG PICTURE</a:t>
            </a:r>
            <a:endParaRPr lang="en-US" sz="2200" dirty="0"/>
          </a:p>
        </p:txBody>
      </p:sp>
      <p:sp>
        <p:nvSpPr>
          <p:cNvPr id="4" name="Text 2"/>
          <p:cNvSpPr/>
          <p:nvPr/>
        </p:nvSpPr>
        <p:spPr>
          <a:xfrm>
            <a:off x="365760" y="822960"/>
            <a:ext cx="8412480" cy="731520"/>
          </a:xfrm>
          <a:prstGeom prst="rect">
            <a:avLst/>
          </a:prstGeom>
          <a:noFill/>
          <a:ln/>
        </p:spPr>
        <p:txBody>
          <a:bodyPr wrap="square" rtlCol="0" anchor="ctr"/>
          <a:lstStyle/>
          <a:p>
            <a:pPr marL="0" indent="0" algn="l">
              <a:buNone/>
            </a:pPr>
            <a:r>
              <a:rPr lang="en-US" sz="1400" i="1" dirty="0">
                <a:solidFill>
                  <a:srgbClr val="4A5568"/>
                </a:solidFill>
              </a:rPr>
              <a:t>Between 2025 and 2026, nearly half our workforce walked out the door. That number stopped us in our tracks — and it should. But here's the good news: we have the data, we have the insights, and we have a plan.</a:t>
            </a:r>
            <a:endParaRPr lang="en-US" sz="1400" dirty="0"/>
          </a:p>
        </p:txBody>
      </p:sp>
      <p:sp>
        <p:nvSpPr>
          <p:cNvPr id="5" name="Shape 3"/>
          <p:cNvSpPr/>
          <p:nvPr/>
        </p:nvSpPr>
        <p:spPr>
          <a:xfrm>
            <a:off x="365760" y="1645920"/>
            <a:ext cx="2560320" cy="1645920"/>
          </a:xfrm>
          <a:prstGeom prst="rect">
            <a:avLst/>
          </a:prstGeom>
          <a:solidFill>
            <a:srgbClr val="FFF0F0"/>
          </a:solidFill>
          <a:ln w="12700">
            <a:solidFill>
              <a:srgbClr val="FF6B6B">
                <a:alpha val="4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365760" y="1737360"/>
            <a:ext cx="2560320" cy="822960"/>
          </a:xfrm>
          <a:prstGeom prst="rect">
            <a:avLst/>
          </a:prstGeom>
          <a:noFill/>
          <a:ln/>
        </p:spPr>
        <p:txBody>
          <a:bodyPr wrap="square" rtlCol="0" anchor="ctr"/>
          <a:lstStyle/>
          <a:p>
            <a:pPr marL="0" indent="0" algn="ctr">
              <a:buNone/>
            </a:pPr>
            <a:r>
              <a:rPr lang="en-US" sz="3800" b="1" dirty="0">
                <a:solidFill>
                  <a:srgbClr val="FF6B6B"/>
                </a:solidFill>
                <a:latin typeface="Georgia" pitchFamily="34" charset="0"/>
                <a:ea typeface="Georgia" pitchFamily="34" charset="-122"/>
                <a:cs typeface="Georgia" pitchFamily="34" charset="-120"/>
              </a:rPr>
              <a:t>47%</a:t>
            </a:r>
            <a:endParaRPr lang="en-US" sz="3800" dirty="0"/>
          </a:p>
        </p:txBody>
      </p:sp>
      <p:sp>
        <p:nvSpPr>
          <p:cNvPr id="7" name="Text 5"/>
          <p:cNvSpPr/>
          <p:nvPr/>
        </p:nvSpPr>
        <p:spPr>
          <a:xfrm>
            <a:off x="365760" y="2578608"/>
            <a:ext cx="2560320" cy="548640"/>
          </a:xfrm>
          <a:prstGeom prst="rect">
            <a:avLst/>
          </a:prstGeom>
          <a:noFill/>
          <a:ln/>
        </p:spPr>
        <p:txBody>
          <a:bodyPr wrap="square" rtlCol="0" anchor="ctr"/>
          <a:lstStyle/>
          <a:p>
            <a:pPr marL="0" indent="0" algn="ctr">
              <a:buNone/>
            </a:pPr>
            <a:r>
              <a:rPr lang="en-US" sz="1200" dirty="0">
                <a:solidFill>
                  <a:srgbClr val="4A5568"/>
                </a:solidFill>
              </a:rPr>
              <a:t>of our workforce</a:t>
            </a:r>
            <a:endParaRPr lang="en-US" sz="1200" dirty="0"/>
          </a:p>
          <a:p>
            <a:pPr marL="0" indent="0" algn="ctr">
              <a:buNone/>
            </a:pPr>
            <a:r>
              <a:rPr lang="en-US" sz="1200" dirty="0">
                <a:solidFill>
                  <a:srgbClr val="4A5568"/>
                </a:solidFill>
              </a:rPr>
              <a:t>left the company</a:t>
            </a:r>
            <a:endParaRPr lang="en-US" sz="1200" dirty="0"/>
          </a:p>
        </p:txBody>
      </p:sp>
      <p:sp>
        <p:nvSpPr>
          <p:cNvPr id="8" name="Shape 6"/>
          <p:cNvSpPr/>
          <p:nvPr/>
        </p:nvSpPr>
        <p:spPr>
          <a:xfrm>
            <a:off x="3200400" y="1645920"/>
            <a:ext cx="2560320" cy="1645920"/>
          </a:xfrm>
          <a:prstGeom prst="rect">
            <a:avLst/>
          </a:prstGeom>
          <a:solidFill>
            <a:srgbClr val="EEF4FB"/>
          </a:solidFill>
          <a:ln w="12700">
            <a:solidFill>
              <a:srgbClr val="2A5298">
                <a:alpha val="4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9" name="Text 7"/>
          <p:cNvSpPr/>
          <p:nvPr/>
        </p:nvSpPr>
        <p:spPr>
          <a:xfrm>
            <a:off x="3200400" y="1737360"/>
            <a:ext cx="2560320" cy="822960"/>
          </a:xfrm>
          <a:prstGeom prst="rect">
            <a:avLst/>
          </a:prstGeom>
          <a:noFill/>
          <a:ln/>
        </p:spPr>
        <p:txBody>
          <a:bodyPr wrap="square" rtlCol="0" anchor="ctr"/>
          <a:lstStyle/>
          <a:p>
            <a:pPr marL="0" indent="0" algn="ctr">
              <a:buNone/>
            </a:pPr>
            <a:r>
              <a:rPr lang="en-US" sz="3800" b="1" dirty="0">
                <a:solidFill>
                  <a:srgbClr val="2A5298"/>
                </a:solidFill>
                <a:latin typeface="Georgia" pitchFamily="34" charset="0"/>
                <a:ea typeface="Georgia" pitchFamily="34" charset="-122"/>
                <a:cs typeface="Georgia" pitchFamily="34" charset="-120"/>
              </a:rPr>
              <a:t>14,900+</a:t>
            </a:r>
            <a:endParaRPr lang="en-US" sz="3800" dirty="0"/>
          </a:p>
        </p:txBody>
      </p:sp>
      <p:sp>
        <p:nvSpPr>
          <p:cNvPr id="10" name="Text 8"/>
          <p:cNvSpPr/>
          <p:nvPr/>
        </p:nvSpPr>
        <p:spPr>
          <a:xfrm>
            <a:off x="3200400" y="2578608"/>
            <a:ext cx="2560320" cy="548640"/>
          </a:xfrm>
          <a:prstGeom prst="rect">
            <a:avLst/>
          </a:prstGeom>
          <a:noFill/>
          <a:ln/>
        </p:spPr>
        <p:txBody>
          <a:bodyPr wrap="square" rtlCol="0" anchor="ctr"/>
          <a:lstStyle/>
          <a:p>
            <a:pPr marL="0" indent="0" algn="ctr">
              <a:buNone/>
            </a:pPr>
            <a:r>
              <a:rPr lang="en-US" sz="1200" dirty="0">
                <a:solidFill>
                  <a:srgbClr val="4A5568"/>
                </a:solidFill>
              </a:rPr>
              <a:t>employees included</a:t>
            </a:r>
            <a:endParaRPr lang="en-US" sz="1200" dirty="0"/>
          </a:p>
          <a:p>
            <a:pPr marL="0" indent="0" algn="ctr">
              <a:buNone/>
            </a:pPr>
            <a:r>
              <a:rPr lang="en-US" sz="1200" dirty="0">
                <a:solidFill>
                  <a:srgbClr val="4A5568"/>
                </a:solidFill>
              </a:rPr>
              <a:t>in our analysis</a:t>
            </a:r>
            <a:endParaRPr lang="en-US" sz="1200" dirty="0"/>
          </a:p>
        </p:txBody>
      </p:sp>
      <p:sp>
        <p:nvSpPr>
          <p:cNvPr id="11" name="Shape 9"/>
          <p:cNvSpPr/>
          <p:nvPr/>
        </p:nvSpPr>
        <p:spPr>
          <a:xfrm>
            <a:off x="6035040" y="1645920"/>
            <a:ext cx="2560320" cy="1645920"/>
          </a:xfrm>
          <a:prstGeom prst="rect">
            <a:avLst/>
          </a:prstGeom>
          <a:solidFill>
            <a:srgbClr val="E8F8F5"/>
          </a:solidFill>
          <a:ln w="12700">
            <a:solidFill>
              <a:srgbClr val="1ABC9C">
                <a:alpha val="4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2" name="Text 10"/>
          <p:cNvSpPr/>
          <p:nvPr/>
        </p:nvSpPr>
        <p:spPr>
          <a:xfrm>
            <a:off x="6035040" y="1737360"/>
            <a:ext cx="2560320" cy="822960"/>
          </a:xfrm>
          <a:prstGeom prst="rect">
            <a:avLst/>
          </a:prstGeom>
          <a:noFill/>
          <a:ln/>
        </p:spPr>
        <p:txBody>
          <a:bodyPr wrap="square" rtlCol="0" anchor="ctr"/>
          <a:lstStyle/>
          <a:p>
            <a:pPr marL="0" indent="0" algn="ctr">
              <a:buNone/>
            </a:pPr>
            <a:r>
              <a:rPr lang="en-US" sz="3800" b="1" dirty="0">
                <a:solidFill>
                  <a:srgbClr val="1ABC9C"/>
                </a:solidFill>
                <a:latin typeface="Georgia" pitchFamily="34" charset="0"/>
                <a:ea typeface="Georgia" pitchFamily="34" charset="-122"/>
                <a:cs typeface="Georgia" pitchFamily="34" charset="-120"/>
              </a:rPr>
              <a:t>6 Groups</a:t>
            </a:r>
            <a:endParaRPr lang="en-US" sz="3800" dirty="0"/>
          </a:p>
        </p:txBody>
      </p:sp>
      <p:sp>
        <p:nvSpPr>
          <p:cNvPr id="13" name="Text 11"/>
          <p:cNvSpPr/>
          <p:nvPr/>
        </p:nvSpPr>
        <p:spPr>
          <a:xfrm>
            <a:off x="6035040" y="2578608"/>
            <a:ext cx="2560320" cy="548640"/>
          </a:xfrm>
          <a:prstGeom prst="rect">
            <a:avLst/>
          </a:prstGeom>
          <a:noFill/>
          <a:ln/>
        </p:spPr>
        <p:txBody>
          <a:bodyPr wrap="square" rtlCol="0" anchor="ctr"/>
          <a:lstStyle/>
          <a:p>
            <a:pPr marL="0" indent="0" algn="ctr">
              <a:buNone/>
            </a:pPr>
            <a:r>
              <a:rPr lang="en-US" sz="1200" dirty="0">
                <a:solidFill>
                  <a:srgbClr val="4A5568"/>
                </a:solidFill>
              </a:rPr>
              <a:t>identified to help</a:t>
            </a:r>
            <a:endParaRPr lang="en-US" sz="1200" dirty="0"/>
          </a:p>
          <a:p>
            <a:pPr marL="0" indent="0" algn="ctr">
              <a:buNone/>
            </a:pPr>
            <a:r>
              <a:rPr lang="en-US" sz="1200" dirty="0">
                <a:solidFill>
                  <a:srgbClr val="4A5568"/>
                </a:solidFill>
              </a:rPr>
              <a:t>us take action</a:t>
            </a:r>
            <a:endParaRPr lang="en-US" sz="1200" dirty="0"/>
          </a:p>
        </p:txBody>
      </p:sp>
      <p:sp>
        <p:nvSpPr>
          <p:cNvPr id="14" name="Shape 12"/>
          <p:cNvSpPr/>
          <p:nvPr/>
        </p:nvSpPr>
        <p:spPr>
          <a:xfrm>
            <a:off x="365760" y="3429000"/>
            <a:ext cx="8412480" cy="1417320"/>
          </a:xfrm>
          <a:prstGeom prst="rect">
            <a:avLst/>
          </a:prstGeom>
          <a:solidFill>
            <a:srgbClr val="FFFFFF"/>
          </a:solidFill>
          <a:ln w="12700">
            <a:solidFill>
              <a:srgbClr val="2A5298">
                <a:alpha val="3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5" name="Text 13"/>
          <p:cNvSpPr/>
          <p:nvPr/>
        </p:nvSpPr>
        <p:spPr>
          <a:xfrm>
            <a:off x="502920" y="3493008"/>
            <a:ext cx="8229600" cy="274320"/>
          </a:xfrm>
          <a:prstGeom prst="rect">
            <a:avLst/>
          </a:prstGeom>
          <a:noFill/>
          <a:ln/>
        </p:spPr>
        <p:txBody>
          <a:bodyPr wrap="square" rtlCol="0" anchor="ctr"/>
          <a:lstStyle/>
          <a:p>
            <a:pPr marL="0" indent="0">
              <a:buNone/>
            </a:pPr>
            <a:r>
              <a:rPr lang="en-US" sz="1100" b="1" dirty="0">
                <a:solidFill>
                  <a:srgbClr val="2A5298"/>
                </a:solidFill>
              </a:rPr>
              <a:t>💬  Key Points</a:t>
            </a:r>
            <a:endParaRPr lang="en-US" sz="1100" dirty="0"/>
          </a:p>
        </p:txBody>
      </p:sp>
      <p:sp>
        <p:nvSpPr>
          <p:cNvPr id="16" name="Text 14"/>
          <p:cNvSpPr/>
          <p:nvPr/>
        </p:nvSpPr>
        <p:spPr>
          <a:xfrm>
            <a:off x="502920" y="3767328"/>
            <a:ext cx="8229600" cy="1005840"/>
          </a:xfrm>
          <a:prstGeom prst="rect">
            <a:avLst/>
          </a:prstGeom>
          <a:noFill/>
          <a:ln/>
        </p:spPr>
        <p:txBody>
          <a:bodyPr wrap="square" rtlCol="0" anchor="ctr"/>
          <a:lstStyle/>
          <a:p>
            <a:pPr marL="0" indent="0">
              <a:buNone/>
            </a:pPr>
            <a:r>
              <a:rPr lang="en-US" sz="1100" dirty="0">
                <a:solidFill>
                  <a:srgbClr val="4A5568"/>
                </a:solidFill>
              </a:rPr>
              <a:t>→  47% is not just a statistic — it represents real people, real relationships, and real knowledge walking out the door.</a:t>
            </a:r>
            <a:endParaRPr lang="en-US" sz="1100" dirty="0"/>
          </a:p>
          <a:p>
            <a:pPr marL="0" indent="0">
              <a:buNone/>
            </a:pPr>
            <a:r>
              <a:rPr lang="en-US" sz="1100" dirty="0">
                <a:solidFill>
                  <a:srgbClr val="4A5568"/>
                </a:solidFill>
              </a:rPr>
              <a:t>→  This is our invitation to listen, learn, and take bold action together.</a:t>
            </a:r>
            <a:endParaRPr lang="en-US" sz="1100" dirty="0"/>
          </a:p>
          <a:p>
            <a:pPr marL="0" indent="0">
              <a:buNone/>
            </a:pPr>
            <a:r>
              <a:rPr lang="en-US" sz="1100" dirty="0">
                <a:solidFill>
                  <a:srgbClr val="4A5568"/>
                </a:solidFill>
              </a:rPr>
              <a:t>→  We gathered exit survey data, analyzed sentiment, and grouped employees into 6 clusters so we can target solutions with precision.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A5298"/>
          </a:solidFill>
          <a:ln w="12700">
            <a:solidFill>
              <a:srgbClr val="2A5298"/>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000" b="1" kern="0" spc="100" dirty="0">
                <a:solidFill>
                  <a:srgbClr val="FFFFFF"/>
                </a:solidFill>
              </a:rPr>
              <a:t>HOW WE MEASURED: THE SENTIMENT SCORE</a:t>
            </a:r>
            <a:endParaRPr lang="en-US" sz="2000" dirty="0"/>
          </a:p>
        </p:txBody>
      </p:sp>
      <p:sp>
        <p:nvSpPr>
          <p:cNvPr id="4" name="Text 2"/>
          <p:cNvSpPr/>
          <p:nvPr/>
        </p:nvSpPr>
        <p:spPr>
          <a:xfrm>
            <a:off x="365760" y="822960"/>
            <a:ext cx="8412480" cy="457200"/>
          </a:xfrm>
          <a:prstGeom prst="rect">
            <a:avLst/>
          </a:prstGeom>
          <a:noFill/>
          <a:ln/>
        </p:spPr>
        <p:txBody>
          <a:bodyPr wrap="square" rtlCol="0" anchor="ctr"/>
          <a:lstStyle/>
          <a:p>
            <a:pPr marL="0" indent="0">
              <a:buNone/>
            </a:pPr>
            <a:r>
              <a:rPr lang="en-US" sz="1400" i="1" dirty="0">
                <a:solidFill>
                  <a:srgbClr val="4A5568"/>
                </a:solidFill>
              </a:rPr>
              <a:t>Think of the Sentiment Score as a simple  ❤️  health check for how each employee feels about their job.</a:t>
            </a:r>
            <a:endParaRPr lang="en-US" sz="1400" dirty="0"/>
          </a:p>
        </p:txBody>
      </p:sp>
      <p:sp>
        <p:nvSpPr>
          <p:cNvPr id="5" name="Shape 3"/>
          <p:cNvSpPr/>
          <p:nvPr/>
        </p:nvSpPr>
        <p:spPr>
          <a:xfrm>
            <a:off x="365760" y="1371600"/>
            <a:ext cx="3931920" cy="2468880"/>
          </a:xfrm>
          <a:prstGeom prst="rect">
            <a:avLst/>
          </a:prstGeom>
          <a:solidFill>
            <a:srgbClr val="FFFFFF"/>
          </a:solidFill>
          <a:ln w="12700">
            <a:solidFill>
              <a:srgbClr val="2A5298">
                <a:alpha val="3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502920" y="1463040"/>
            <a:ext cx="3657600" cy="320040"/>
          </a:xfrm>
          <a:prstGeom prst="rect">
            <a:avLst/>
          </a:prstGeom>
          <a:noFill/>
          <a:ln/>
        </p:spPr>
        <p:txBody>
          <a:bodyPr wrap="square" rtlCol="0" anchor="ctr"/>
          <a:lstStyle/>
          <a:p>
            <a:pPr marL="0" indent="0">
              <a:buNone/>
            </a:pPr>
            <a:r>
              <a:rPr lang="en-US" sz="1300" b="1" dirty="0">
                <a:solidFill>
                  <a:srgbClr val="1E3A5F"/>
                </a:solidFill>
              </a:rPr>
              <a:t>🔍  How It Works</a:t>
            </a:r>
            <a:endParaRPr lang="en-US" sz="1300" dirty="0"/>
          </a:p>
        </p:txBody>
      </p:sp>
      <p:sp>
        <p:nvSpPr>
          <p:cNvPr id="7" name="Text 5"/>
          <p:cNvSpPr/>
          <p:nvPr/>
        </p:nvSpPr>
        <p:spPr>
          <a:xfrm>
            <a:off x="502920" y="1828800"/>
            <a:ext cx="3657600" cy="1828800"/>
          </a:xfrm>
          <a:prstGeom prst="rect">
            <a:avLst/>
          </a:prstGeom>
          <a:noFill/>
          <a:ln/>
        </p:spPr>
        <p:txBody>
          <a:bodyPr wrap="square" rtlCol="0" anchor="ctr"/>
          <a:lstStyle/>
          <a:p>
            <a:pPr marL="0" indent="0">
              <a:buNone/>
            </a:pPr>
            <a:r>
              <a:rPr lang="en-US" sz="1150" dirty="0">
                <a:solidFill>
                  <a:srgbClr val="4A5568"/>
                </a:solidFill>
              </a:rPr>
              <a:t>1.  We collected survey responses from employees who left and have stayed — covering topics like leadership, remote work, recognition, and growth.</a:t>
            </a:r>
            <a:endParaRPr lang="en-US" sz="1150" dirty="0"/>
          </a:p>
          <a:p>
            <a:pPr marL="0" indent="0">
              <a:buNone/>
            </a:pPr>
            <a:r>
              <a:rPr lang="en-US" sz="1150" dirty="0">
                <a:solidFill>
                  <a:srgbClr val="4A5568"/>
                </a:solidFill>
              </a:rPr>
              <a:t>2.  We converted their answers into a single number between 0 and 1.</a:t>
            </a:r>
            <a:endParaRPr lang="en-US" sz="1150" dirty="0"/>
          </a:p>
          <a:p>
            <a:pPr marL="0" indent="0">
              <a:buNone/>
            </a:pPr>
            <a:r>
              <a:rPr lang="en-US" sz="1150" dirty="0">
                <a:solidFill>
                  <a:srgbClr val="4A5568"/>
                </a:solidFill>
              </a:rPr>
              <a:t>3.  The closer to 0, the lower the satisfaction. The closer to 1, the higher.</a:t>
            </a:r>
            <a:endParaRPr lang="en-US" sz="1150" dirty="0"/>
          </a:p>
          <a:p>
            <a:pPr marL="0" indent="0">
              <a:buNone/>
            </a:pPr>
            <a:r>
              <a:rPr lang="en-US" sz="1150" dirty="0">
                <a:solidFill>
                  <a:srgbClr val="4A5568"/>
                </a:solidFill>
              </a:rPr>
              <a:t>4.  We highlighted low scores (&lt; 0.5) so they stand out — because that's where we need to focus.</a:t>
            </a:r>
            <a:endParaRPr lang="en-US" sz="1150" dirty="0"/>
          </a:p>
        </p:txBody>
      </p:sp>
      <p:sp>
        <p:nvSpPr>
          <p:cNvPr id="8" name="Shape 6"/>
          <p:cNvSpPr/>
          <p:nvPr/>
        </p:nvSpPr>
        <p:spPr>
          <a:xfrm>
            <a:off x="4754880" y="1417320"/>
            <a:ext cx="4023360" cy="475488"/>
          </a:xfrm>
          <a:prstGeom prst="rect">
            <a:avLst/>
          </a:prstGeom>
          <a:solidFill>
            <a:srgbClr val="27AE60">
              <a:alpha val="80000"/>
            </a:srgbClr>
          </a:solidFill>
          <a:ln w="12700">
            <a:solidFill>
              <a:srgbClr val="27AE60">
                <a:alpha val="60000"/>
              </a:srgbClr>
            </a:solidFill>
            <a:prstDash val="solid"/>
          </a:ln>
        </p:spPr>
        <p:txBody>
          <a:bodyPr/>
          <a:lstStyle/>
          <a:p>
            <a:endParaRPr lang="en-US"/>
          </a:p>
        </p:txBody>
      </p:sp>
      <p:sp>
        <p:nvSpPr>
          <p:cNvPr id="9" name="Text 7"/>
          <p:cNvSpPr/>
          <p:nvPr/>
        </p:nvSpPr>
        <p:spPr>
          <a:xfrm>
            <a:off x="4846320" y="1453896"/>
            <a:ext cx="3840480" cy="402336"/>
          </a:xfrm>
          <a:prstGeom prst="rect">
            <a:avLst/>
          </a:prstGeom>
          <a:noFill/>
          <a:ln/>
        </p:spPr>
        <p:txBody>
          <a:bodyPr wrap="square" rtlCol="0" anchor="ctr"/>
          <a:lstStyle/>
          <a:p>
            <a:pPr marL="0" indent="0" algn="l">
              <a:buNone/>
            </a:pPr>
            <a:r>
              <a:rPr lang="en-US" sz="1250" dirty="0">
                <a:solidFill>
                  <a:srgbClr val="FFFFFF"/>
                </a:solidFill>
              </a:rPr>
              <a:t>😄  Very High  (0.75–1.0)</a:t>
            </a:r>
            <a:endParaRPr lang="en-US" sz="1250" dirty="0"/>
          </a:p>
        </p:txBody>
      </p:sp>
      <p:sp>
        <p:nvSpPr>
          <p:cNvPr id="10" name="Shape 8"/>
          <p:cNvSpPr/>
          <p:nvPr/>
        </p:nvSpPr>
        <p:spPr>
          <a:xfrm>
            <a:off x="4754880" y="2011680"/>
            <a:ext cx="4023360" cy="475488"/>
          </a:xfrm>
          <a:prstGeom prst="rect">
            <a:avLst/>
          </a:prstGeom>
          <a:solidFill>
            <a:srgbClr val="52BE80">
              <a:alpha val="80000"/>
            </a:srgbClr>
          </a:solidFill>
          <a:ln w="12700">
            <a:solidFill>
              <a:srgbClr val="52BE80">
                <a:alpha val="60000"/>
              </a:srgbClr>
            </a:solidFill>
            <a:prstDash val="solid"/>
          </a:ln>
        </p:spPr>
        <p:txBody>
          <a:bodyPr/>
          <a:lstStyle/>
          <a:p>
            <a:endParaRPr lang="en-US"/>
          </a:p>
        </p:txBody>
      </p:sp>
      <p:sp>
        <p:nvSpPr>
          <p:cNvPr id="11" name="Text 9"/>
          <p:cNvSpPr/>
          <p:nvPr/>
        </p:nvSpPr>
        <p:spPr>
          <a:xfrm>
            <a:off x="4846320" y="2048256"/>
            <a:ext cx="3840480" cy="402336"/>
          </a:xfrm>
          <a:prstGeom prst="rect">
            <a:avLst/>
          </a:prstGeom>
          <a:noFill/>
          <a:ln/>
        </p:spPr>
        <p:txBody>
          <a:bodyPr wrap="square" rtlCol="0" anchor="ctr"/>
          <a:lstStyle/>
          <a:p>
            <a:pPr marL="0" indent="0" algn="l">
              <a:buNone/>
            </a:pPr>
            <a:r>
              <a:rPr lang="en-US" sz="1250" dirty="0">
                <a:solidFill>
                  <a:srgbClr val="FFFFFF"/>
                </a:solidFill>
              </a:rPr>
              <a:t>🙂  High  (0.60–0.74)</a:t>
            </a:r>
            <a:endParaRPr lang="en-US" sz="1250" dirty="0"/>
          </a:p>
        </p:txBody>
      </p:sp>
      <p:sp>
        <p:nvSpPr>
          <p:cNvPr id="12" name="Shape 10"/>
          <p:cNvSpPr/>
          <p:nvPr/>
        </p:nvSpPr>
        <p:spPr>
          <a:xfrm>
            <a:off x="4754880" y="2606040"/>
            <a:ext cx="4023360" cy="475488"/>
          </a:xfrm>
          <a:prstGeom prst="rect">
            <a:avLst/>
          </a:prstGeom>
          <a:solidFill>
            <a:srgbClr val="F5A623">
              <a:alpha val="80000"/>
            </a:srgbClr>
          </a:solidFill>
          <a:ln w="12700">
            <a:solidFill>
              <a:srgbClr val="F5A623">
                <a:alpha val="60000"/>
              </a:srgbClr>
            </a:solidFill>
            <a:prstDash val="solid"/>
          </a:ln>
        </p:spPr>
        <p:txBody>
          <a:bodyPr/>
          <a:lstStyle/>
          <a:p>
            <a:endParaRPr lang="en-US"/>
          </a:p>
        </p:txBody>
      </p:sp>
      <p:sp>
        <p:nvSpPr>
          <p:cNvPr id="13" name="Text 11"/>
          <p:cNvSpPr/>
          <p:nvPr/>
        </p:nvSpPr>
        <p:spPr>
          <a:xfrm>
            <a:off x="4846320" y="2642616"/>
            <a:ext cx="3840480" cy="402336"/>
          </a:xfrm>
          <a:prstGeom prst="rect">
            <a:avLst/>
          </a:prstGeom>
          <a:noFill/>
          <a:ln/>
        </p:spPr>
        <p:txBody>
          <a:bodyPr wrap="square" rtlCol="0" anchor="ctr"/>
          <a:lstStyle/>
          <a:p>
            <a:pPr marL="0" indent="0" algn="l">
              <a:buNone/>
            </a:pPr>
            <a:r>
              <a:rPr lang="en-US" sz="1250" dirty="0">
                <a:solidFill>
                  <a:srgbClr val="FFFFFF"/>
                </a:solidFill>
              </a:rPr>
              <a:t>😐  Medium  (0.50–0.59)</a:t>
            </a:r>
            <a:endParaRPr lang="en-US" sz="1250" dirty="0"/>
          </a:p>
        </p:txBody>
      </p:sp>
      <p:sp>
        <p:nvSpPr>
          <p:cNvPr id="14" name="Shape 12"/>
          <p:cNvSpPr/>
          <p:nvPr/>
        </p:nvSpPr>
        <p:spPr>
          <a:xfrm>
            <a:off x="4754880" y="3200400"/>
            <a:ext cx="4023360" cy="475488"/>
          </a:xfrm>
          <a:prstGeom prst="rect">
            <a:avLst/>
          </a:prstGeom>
          <a:solidFill>
            <a:srgbClr val="E74C3C">
              <a:alpha val="80000"/>
            </a:srgbClr>
          </a:solidFill>
          <a:ln w="12700">
            <a:solidFill>
              <a:srgbClr val="E74C3C">
                <a:alpha val="60000"/>
              </a:srgbClr>
            </a:solidFill>
            <a:prstDash val="solid"/>
          </a:ln>
        </p:spPr>
        <p:txBody>
          <a:bodyPr/>
          <a:lstStyle/>
          <a:p>
            <a:endParaRPr lang="en-US"/>
          </a:p>
        </p:txBody>
      </p:sp>
      <p:sp>
        <p:nvSpPr>
          <p:cNvPr id="15" name="Text 13"/>
          <p:cNvSpPr/>
          <p:nvPr/>
        </p:nvSpPr>
        <p:spPr>
          <a:xfrm>
            <a:off x="4846320" y="3236976"/>
            <a:ext cx="3840480" cy="402336"/>
          </a:xfrm>
          <a:prstGeom prst="rect">
            <a:avLst/>
          </a:prstGeom>
          <a:noFill/>
          <a:ln/>
        </p:spPr>
        <p:txBody>
          <a:bodyPr wrap="square" rtlCol="0" anchor="ctr"/>
          <a:lstStyle/>
          <a:p>
            <a:pPr marL="0" indent="0" algn="l">
              <a:buNone/>
            </a:pPr>
            <a:r>
              <a:rPr lang="en-US" sz="1250" b="1" dirty="0">
                <a:solidFill>
                  <a:srgbClr val="FFFFFF"/>
                </a:solidFill>
              </a:rPr>
              <a:t>😟  Low  (&lt; 0.50)  ← Focus here</a:t>
            </a:r>
            <a:endParaRPr lang="en-US" sz="1250" dirty="0"/>
          </a:p>
        </p:txBody>
      </p:sp>
      <p:sp>
        <p:nvSpPr>
          <p:cNvPr id="16" name="Text 14"/>
          <p:cNvSpPr/>
          <p:nvPr/>
        </p:nvSpPr>
        <p:spPr>
          <a:xfrm>
            <a:off x="4754880" y="1234440"/>
            <a:ext cx="4023360" cy="274320"/>
          </a:xfrm>
          <a:prstGeom prst="rect">
            <a:avLst/>
          </a:prstGeom>
          <a:noFill/>
          <a:ln/>
        </p:spPr>
        <p:txBody>
          <a:bodyPr wrap="square" rtlCol="0" anchor="ctr"/>
          <a:lstStyle/>
          <a:p>
            <a:pPr marL="0" indent="0" algn="ctr">
              <a:buNone/>
            </a:pPr>
            <a:r>
              <a:rPr lang="en-US" sz="1100" b="1" dirty="0">
                <a:solidFill>
                  <a:srgbClr val="1E3A5F"/>
                </a:solidFill>
              </a:rPr>
              <a:t>Job Satisfaction Levels</a:t>
            </a:r>
            <a:endParaRPr lang="en-US" sz="1100" dirty="0"/>
          </a:p>
        </p:txBody>
      </p:sp>
      <p:sp>
        <p:nvSpPr>
          <p:cNvPr id="17" name="Shape 15"/>
          <p:cNvSpPr/>
          <p:nvPr/>
        </p:nvSpPr>
        <p:spPr>
          <a:xfrm>
            <a:off x="365760" y="3977640"/>
            <a:ext cx="8412480" cy="822960"/>
          </a:xfrm>
          <a:prstGeom prst="rect">
            <a:avLst/>
          </a:prstGeom>
          <a:solidFill>
            <a:srgbClr val="EBF5FB"/>
          </a:solidFill>
          <a:ln w="12700">
            <a:solidFill>
              <a:srgbClr val="2A5298">
                <a:alpha val="40000"/>
              </a:srgbClr>
            </a:solidFill>
            <a:prstDash val="solid"/>
          </a:ln>
        </p:spPr>
        <p:txBody>
          <a:bodyPr/>
          <a:lstStyle/>
          <a:p>
            <a:endParaRPr lang="en-US"/>
          </a:p>
        </p:txBody>
      </p:sp>
      <p:sp>
        <p:nvSpPr>
          <p:cNvPr id="18" name="Text 16"/>
          <p:cNvSpPr/>
          <p:nvPr/>
        </p:nvSpPr>
        <p:spPr>
          <a:xfrm>
            <a:off x="502920" y="4041648"/>
            <a:ext cx="8229600" cy="694944"/>
          </a:xfrm>
          <a:prstGeom prst="rect">
            <a:avLst/>
          </a:prstGeom>
          <a:noFill/>
          <a:ln/>
        </p:spPr>
        <p:txBody>
          <a:bodyPr wrap="square" rtlCol="0" anchor="ctr"/>
          <a:lstStyle/>
          <a:p>
            <a:pPr marL="0" indent="0">
              <a:buNone/>
            </a:pPr>
            <a:r>
              <a:rPr lang="en-US" sz="1200" i="1" dirty="0">
                <a:solidFill>
                  <a:srgbClr val="1E3A5F"/>
                </a:solidFill>
              </a:rPr>
              <a:t>✅  Bottom line: A score below 0.5 is our signal that something needs attention. We used these scores to group every employee — and find exactly where to act.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200" b="1" kern="0" spc="200" dirty="0">
                <a:solidFill>
                  <a:srgbClr val="FFFFFF"/>
                </a:solidFill>
              </a:rPr>
              <a:t>UNDERSTANDING OUR PEOPLE</a:t>
            </a:r>
            <a:endParaRPr lang="en-US" sz="2200" dirty="0"/>
          </a:p>
        </p:txBody>
      </p:sp>
      <p:sp>
        <p:nvSpPr>
          <p:cNvPr id="4" name="Text 2"/>
          <p:cNvSpPr/>
          <p:nvPr/>
        </p:nvSpPr>
        <p:spPr>
          <a:xfrm>
            <a:off x="365760" y="777240"/>
            <a:ext cx="8412480" cy="411480"/>
          </a:xfrm>
          <a:prstGeom prst="rect">
            <a:avLst/>
          </a:prstGeom>
          <a:noFill/>
          <a:ln/>
        </p:spPr>
        <p:txBody>
          <a:bodyPr wrap="square" rtlCol="0" anchor="ctr"/>
          <a:lstStyle/>
          <a:p>
            <a:pPr marL="0" indent="0">
              <a:buNone/>
            </a:pPr>
            <a:r>
              <a:rPr lang="en-US" sz="1300" i="1" dirty="0">
                <a:solidFill>
                  <a:srgbClr val="4A5568"/>
                </a:solidFill>
              </a:rPr>
              <a:t>We grouped all employees into 6 clusters based on tenure, sentiment, and whether they stayed or left. Each group tells a different story.</a:t>
            </a:r>
            <a:endParaRPr lang="en-US" sz="1300" dirty="0"/>
          </a:p>
        </p:txBody>
      </p:sp>
      <p:sp>
        <p:nvSpPr>
          <p:cNvPr id="5" name="Shape 3"/>
          <p:cNvSpPr/>
          <p:nvPr/>
        </p:nvSpPr>
        <p:spPr>
          <a:xfrm>
            <a:off x="228600" y="1280160"/>
            <a:ext cx="2788920" cy="1600200"/>
          </a:xfrm>
          <a:prstGeom prst="rect">
            <a:avLst/>
          </a:prstGeom>
          <a:solidFill>
            <a:srgbClr val="FEF3E2"/>
          </a:solidFill>
          <a:ln w="12700">
            <a:solidFill>
              <a:srgbClr val="F5A623">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228600" y="1280160"/>
            <a:ext cx="2788920" cy="201168"/>
          </a:xfrm>
          <a:prstGeom prst="rect">
            <a:avLst/>
          </a:prstGeom>
          <a:solidFill>
            <a:srgbClr val="F5A623"/>
          </a:solidFill>
          <a:ln w="12700">
            <a:solidFill>
              <a:srgbClr val="F5A623"/>
            </a:solidFill>
            <a:prstDash val="solid"/>
          </a:ln>
        </p:spPr>
        <p:txBody>
          <a:bodyPr/>
          <a:lstStyle/>
          <a:p>
            <a:endParaRPr lang="en-US"/>
          </a:p>
        </p:txBody>
      </p:sp>
      <p:sp>
        <p:nvSpPr>
          <p:cNvPr id="7" name="Shape 5"/>
          <p:cNvSpPr/>
          <p:nvPr/>
        </p:nvSpPr>
        <p:spPr>
          <a:xfrm>
            <a:off x="1874520" y="1307592"/>
            <a:ext cx="1051560" cy="155448"/>
          </a:xfrm>
          <a:prstGeom prst="rect">
            <a:avLst/>
          </a:prstGeom>
          <a:solidFill>
            <a:srgbClr val="FFFFFF">
              <a:alpha val="60000"/>
            </a:srgbClr>
          </a:solidFill>
          <a:ln w="12700">
            <a:solidFill>
              <a:srgbClr val="FFFFFF">
                <a:alpha val="40000"/>
              </a:srgbClr>
            </a:solidFill>
            <a:prstDash val="solid"/>
          </a:ln>
        </p:spPr>
        <p:txBody>
          <a:bodyPr/>
          <a:lstStyle/>
          <a:p>
            <a:endParaRPr lang="en-US"/>
          </a:p>
        </p:txBody>
      </p:sp>
      <p:sp>
        <p:nvSpPr>
          <p:cNvPr id="8" name="Text 6"/>
          <p:cNvSpPr/>
          <p:nvPr/>
        </p:nvSpPr>
        <p:spPr>
          <a:xfrm>
            <a:off x="1874520" y="1307592"/>
            <a:ext cx="1051560" cy="155448"/>
          </a:xfrm>
          <a:prstGeom prst="rect">
            <a:avLst/>
          </a:prstGeom>
          <a:noFill/>
          <a:ln/>
        </p:spPr>
        <p:txBody>
          <a:bodyPr wrap="square" rtlCol="0" anchor="ctr"/>
          <a:lstStyle/>
          <a:p>
            <a:pPr marL="0" indent="0" algn="ctr">
              <a:buNone/>
            </a:pPr>
            <a:r>
              <a:rPr lang="en-US" sz="700" b="1" dirty="0">
                <a:solidFill>
                  <a:srgbClr val="FFFFFF"/>
                </a:solidFill>
              </a:rPr>
              <a:t>AT RISK</a:t>
            </a:r>
            <a:endParaRPr lang="en-US" sz="700" dirty="0"/>
          </a:p>
        </p:txBody>
      </p:sp>
      <p:sp>
        <p:nvSpPr>
          <p:cNvPr id="9" name="Text 7"/>
          <p:cNvSpPr/>
          <p:nvPr/>
        </p:nvSpPr>
        <p:spPr>
          <a:xfrm>
            <a:off x="301752" y="1517904"/>
            <a:ext cx="2606040" cy="411480"/>
          </a:xfrm>
          <a:prstGeom prst="rect">
            <a:avLst/>
          </a:prstGeom>
          <a:noFill/>
          <a:ln/>
        </p:spPr>
        <p:txBody>
          <a:bodyPr wrap="square" rtlCol="0" anchor="ctr"/>
          <a:lstStyle/>
          <a:p>
            <a:pPr marL="0" indent="0" algn="l">
              <a:buNone/>
            </a:pPr>
            <a:r>
              <a:rPr lang="en-US" sz="1200" b="1" dirty="0">
                <a:solidFill>
                  <a:srgbClr val="F5A623"/>
                </a:solidFill>
              </a:rPr>
              <a:t>⚠️  Long Tenure Risk</a:t>
            </a:r>
            <a:endParaRPr lang="en-US" sz="1200" dirty="0"/>
          </a:p>
        </p:txBody>
      </p:sp>
      <p:sp>
        <p:nvSpPr>
          <p:cNvPr id="10" name="Shape 8"/>
          <p:cNvSpPr/>
          <p:nvPr/>
        </p:nvSpPr>
        <p:spPr>
          <a:xfrm>
            <a:off x="301752" y="1920240"/>
            <a:ext cx="1234440" cy="228600"/>
          </a:xfrm>
          <a:prstGeom prst="rect">
            <a:avLst/>
          </a:prstGeom>
          <a:solidFill>
            <a:srgbClr val="F5A623">
              <a:alpha val="25000"/>
            </a:srgbClr>
          </a:solidFill>
          <a:ln w="12700">
            <a:solidFill>
              <a:srgbClr val="F5A623">
                <a:alpha val="40000"/>
              </a:srgbClr>
            </a:solidFill>
            <a:prstDash val="solid"/>
          </a:ln>
        </p:spPr>
        <p:txBody>
          <a:bodyPr/>
          <a:lstStyle/>
          <a:p>
            <a:endParaRPr lang="en-US"/>
          </a:p>
        </p:txBody>
      </p:sp>
      <p:sp>
        <p:nvSpPr>
          <p:cNvPr id="11" name="Text 9"/>
          <p:cNvSpPr/>
          <p:nvPr/>
        </p:nvSpPr>
        <p:spPr>
          <a:xfrm>
            <a:off x="301752" y="1929384"/>
            <a:ext cx="1234440" cy="219456"/>
          </a:xfrm>
          <a:prstGeom prst="rect">
            <a:avLst/>
          </a:prstGeom>
          <a:noFill/>
          <a:ln/>
        </p:spPr>
        <p:txBody>
          <a:bodyPr wrap="square" rtlCol="0" anchor="ctr"/>
          <a:lstStyle/>
          <a:p>
            <a:pPr marL="0" indent="0" algn="ctr">
              <a:buNone/>
            </a:pPr>
            <a:r>
              <a:rPr lang="en-US" sz="900" dirty="0">
                <a:solidFill>
                  <a:srgbClr val="1A2B42"/>
                </a:solidFill>
              </a:rPr>
              <a:t>⏱ 3+ years</a:t>
            </a:r>
            <a:endParaRPr lang="en-US" sz="900" dirty="0"/>
          </a:p>
        </p:txBody>
      </p:sp>
      <p:sp>
        <p:nvSpPr>
          <p:cNvPr id="12" name="Shape 10"/>
          <p:cNvSpPr/>
          <p:nvPr/>
        </p:nvSpPr>
        <p:spPr>
          <a:xfrm>
            <a:off x="1645920" y="1920240"/>
            <a:ext cx="1234440" cy="228600"/>
          </a:xfrm>
          <a:prstGeom prst="rect">
            <a:avLst/>
          </a:prstGeom>
          <a:solidFill>
            <a:srgbClr val="F5A623">
              <a:alpha val="25000"/>
            </a:srgbClr>
          </a:solidFill>
          <a:ln w="12700">
            <a:solidFill>
              <a:srgbClr val="F5A623">
                <a:alpha val="40000"/>
              </a:srgbClr>
            </a:solidFill>
            <a:prstDash val="solid"/>
          </a:ln>
        </p:spPr>
        <p:txBody>
          <a:bodyPr/>
          <a:lstStyle/>
          <a:p>
            <a:endParaRPr lang="en-US"/>
          </a:p>
        </p:txBody>
      </p:sp>
      <p:sp>
        <p:nvSpPr>
          <p:cNvPr id="13" name="Text 11"/>
          <p:cNvSpPr/>
          <p:nvPr/>
        </p:nvSpPr>
        <p:spPr>
          <a:xfrm>
            <a:off x="1645920" y="1929384"/>
            <a:ext cx="1234440" cy="219456"/>
          </a:xfrm>
          <a:prstGeom prst="rect">
            <a:avLst/>
          </a:prstGeom>
          <a:noFill/>
          <a:ln/>
        </p:spPr>
        <p:txBody>
          <a:bodyPr wrap="square" rtlCol="0" anchor="ctr"/>
          <a:lstStyle/>
          <a:p>
            <a:pPr marL="0" indent="0" algn="ctr">
              <a:buNone/>
            </a:pPr>
            <a:r>
              <a:rPr lang="en-US" sz="900" dirty="0">
                <a:solidFill>
                  <a:srgbClr val="1A2B42"/>
                </a:solidFill>
              </a:rPr>
              <a:t>📊 Score: &lt; 0.5</a:t>
            </a:r>
            <a:endParaRPr lang="en-US" sz="900" dirty="0"/>
          </a:p>
        </p:txBody>
      </p:sp>
      <p:sp>
        <p:nvSpPr>
          <p:cNvPr id="14" name="Text 12"/>
          <p:cNvSpPr/>
          <p:nvPr/>
        </p:nvSpPr>
        <p:spPr>
          <a:xfrm>
            <a:off x="301752" y="2212848"/>
            <a:ext cx="2606040" cy="594360"/>
          </a:xfrm>
          <a:prstGeom prst="rect">
            <a:avLst/>
          </a:prstGeom>
          <a:noFill/>
          <a:ln/>
        </p:spPr>
        <p:txBody>
          <a:bodyPr wrap="square" rtlCol="0" anchor="ctr"/>
          <a:lstStyle/>
          <a:p>
            <a:pPr marL="0" indent="0" algn="l">
              <a:buNone/>
            </a:pPr>
            <a:r>
              <a:rPr lang="en-US" sz="950" dirty="0">
                <a:solidFill>
                  <a:srgbClr val="4A5568"/>
                </a:solidFill>
              </a:rPr>
              <a:t>Loyal veterans showing warning signs. They've given a lot — we need to give back.</a:t>
            </a:r>
            <a:endParaRPr lang="en-US" sz="950" dirty="0"/>
          </a:p>
        </p:txBody>
      </p:sp>
      <p:sp>
        <p:nvSpPr>
          <p:cNvPr id="15" name="Shape 13"/>
          <p:cNvSpPr/>
          <p:nvPr/>
        </p:nvSpPr>
        <p:spPr>
          <a:xfrm>
            <a:off x="3172968" y="1280160"/>
            <a:ext cx="2788920" cy="1600200"/>
          </a:xfrm>
          <a:prstGeom prst="rect">
            <a:avLst/>
          </a:prstGeom>
          <a:solidFill>
            <a:srgbClr val="EBF5FB"/>
          </a:solidFill>
          <a:ln w="12700">
            <a:solidFill>
              <a:srgbClr val="5DADE2">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3172968" y="1280160"/>
            <a:ext cx="2788920" cy="201168"/>
          </a:xfrm>
          <a:prstGeom prst="rect">
            <a:avLst/>
          </a:prstGeom>
          <a:solidFill>
            <a:srgbClr val="5DADE2"/>
          </a:solidFill>
          <a:ln w="12700">
            <a:solidFill>
              <a:srgbClr val="5DADE2"/>
            </a:solidFill>
            <a:prstDash val="solid"/>
          </a:ln>
        </p:spPr>
        <p:txBody>
          <a:bodyPr/>
          <a:lstStyle/>
          <a:p>
            <a:endParaRPr lang="en-US"/>
          </a:p>
        </p:txBody>
      </p:sp>
      <p:sp>
        <p:nvSpPr>
          <p:cNvPr id="17" name="Shape 15"/>
          <p:cNvSpPr/>
          <p:nvPr/>
        </p:nvSpPr>
        <p:spPr>
          <a:xfrm>
            <a:off x="4818888" y="1307592"/>
            <a:ext cx="1051560" cy="155448"/>
          </a:xfrm>
          <a:prstGeom prst="rect">
            <a:avLst/>
          </a:prstGeom>
          <a:solidFill>
            <a:srgbClr val="FFFFFF">
              <a:alpha val="60000"/>
            </a:srgbClr>
          </a:solidFill>
          <a:ln w="12700">
            <a:solidFill>
              <a:srgbClr val="FFFFFF">
                <a:alpha val="40000"/>
              </a:srgbClr>
            </a:solidFill>
            <a:prstDash val="solid"/>
          </a:ln>
        </p:spPr>
        <p:txBody>
          <a:bodyPr/>
          <a:lstStyle/>
          <a:p>
            <a:endParaRPr lang="en-US"/>
          </a:p>
        </p:txBody>
      </p:sp>
      <p:sp>
        <p:nvSpPr>
          <p:cNvPr id="18" name="Text 16"/>
          <p:cNvSpPr/>
          <p:nvPr/>
        </p:nvSpPr>
        <p:spPr>
          <a:xfrm>
            <a:off x="4818888" y="1307592"/>
            <a:ext cx="1051560" cy="155448"/>
          </a:xfrm>
          <a:prstGeom prst="rect">
            <a:avLst/>
          </a:prstGeom>
          <a:noFill/>
          <a:ln/>
        </p:spPr>
        <p:txBody>
          <a:bodyPr wrap="square" rtlCol="0" anchor="ctr"/>
          <a:lstStyle/>
          <a:p>
            <a:pPr marL="0" indent="0" algn="ctr">
              <a:buNone/>
            </a:pPr>
            <a:r>
              <a:rPr lang="en-US" sz="700" b="1" dirty="0">
                <a:solidFill>
                  <a:srgbClr val="FFFFFF"/>
                </a:solidFill>
              </a:rPr>
              <a:t>MONITOR</a:t>
            </a:r>
            <a:endParaRPr lang="en-US" sz="700" dirty="0"/>
          </a:p>
        </p:txBody>
      </p:sp>
      <p:sp>
        <p:nvSpPr>
          <p:cNvPr id="19" name="Text 17"/>
          <p:cNvSpPr/>
          <p:nvPr/>
        </p:nvSpPr>
        <p:spPr>
          <a:xfrm>
            <a:off x="3246120" y="1517904"/>
            <a:ext cx="2606040" cy="411480"/>
          </a:xfrm>
          <a:prstGeom prst="rect">
            <a:avLst/>
          </a:prstGeom>
          <a:noFill/>
          <a:ln/>
        </p:spPr>
        <p:txBody>
          <a:bodyPr wrap="square" rtlCol="0" anchor="ctr"/>
          <a:lstStyle/>
          <a:p>
            <a:pPr marL="0" indent="0" algn="l">
              <a:buNone/>
            </a:pPr>
            <a:r>
              <a:rPr lang="en-US" sz="1200" b="1" dirty="0">
                <a:solidFill>
                  <a:srgbClr val="5DADE2"/>
                </a:solidFill>
              </a:rPr>
              <a:t>🔵  Neutral/Steady</a:t>
            </a:r>
            <a:endParaRPr lang="en-US" sz="1200" dirty="0"/>
          </a:p>
          <a:p>
            <a:pPr marL="0" indent="0" algn="l">
              <a:buNone/>
            </a:pPr>
            <a:r>
              <a:rPr lang="en-US" sz="1200" b="1" dirty="0">
                <a:solidFill>
                  <a:srgbClr val="5DADE2"/>
                </a:solidFill>
              </a:rPr>
              <a:t>Newcomers</a:t>
            </a:r>
            <a:endParaRPr lang="en-US" sz="1200" dirty="0"/>
          </a:p>
        </p:txBody>
      </p:sp>
      <p:sp>
        <p:nvSpPr>
          <p:cNvPr id="20" name="Shape 18"/>
          <p:cNvSpPr/>
          <p:nvPr/>
        </p:nvSpPr>
        <p:spPr>
          <a:xfrm>
            <a:off x="3246120" y="1920240"/>
            <a:ext cx="1234440" cy="228600"/>
          </a:xfrm>
          <a:prstGeom prst="rect">
            <a:avLst/>
          </a:prstGeom>
          <a:solidFill>
            <a:srgbClr val="5DADE2">
              <a:alpha val="25000"/>
            </a:srgbClr>
          </a:solidFill>
          <a:ln w="12700">
            <a:solidFill>
              <a:srgbClr val="5DADE2">
                <a:alpha val="40000"/>
              </a:srgbClr>
            </a:solidFill>
            <a:prstDash val="solid"/>
          </a:ln>
        </p:spPr>
        <p:txBody>
          <a:bodyPr/>
          <a:lstStyle/>
          <a:p>
            <a:endParaRPr lang="en-US"/>
          </a:p>
        </p:txBody>
      </p:sp>
      <p:sp>
        <p:nvSpPr>
          <p:cNvPr id="21" name="Text 19"/>
          <p:cNvSpPr/>
          <p:nvPr/>
        </p:nvSpPr>
        <p:spPr>
          <a:xfrm>
            <a:off x="3246120" y="1929384"/>
            <a:ext cx="1234440" cy="219456"/>
          </a:xfrm>
          <a:prstGeom prst="rect">
            <a:avLst/>
          </a:prstGeom>
          <a:noFill/>
          <a:ln/>
        </p:spPr>
        <p:txBody>
          <a:bodyPr wrap="square" rtlCol="0" anchor="ctr"/>
          <a:lstStyle/>
          <a:p>
            <a:pPr marL="0" indent="0" algn="ctr">
              <a:buNone/>
            </a:pPr>
            <a:r>
              <a:rPr lang="en-US" sz="900" dirty="0">
                <a:solidFill>
                  <a:srgbClr val="1A2B42"/>
                </a:solidFill>
              </a:rPr>
              <a:t>⏱ &lt; 2 years</a:t>
            </a:r>
            <a:endParaRPr lang="en-US" sz="900" dirty="0"/>
          </a:p>
        </p:txBody>
      </p:sp>
      <p:sp>
        <p:nvSpPr>
          <p:cNvPr id="22" name="Shape 20"/>
          <p:cNvSpPr/>
          <p:nvPr/>
        </p:nvSpPr>
        <p:spPr>
          <a:xfrm>
            <a:off x="4590288" y="1920240"/>
            <a:ext cx="1234440" cy="228600"/>
          </a:xfrm>
          <a:prstGeom prst="rect">
            <a:avLst/>
          </a:prstGeom>
          <a:solidFill>
            <a:srgbClr val="5DADE2">
              <a:alpha val="25000"/>
            </a:srgbClr>
          </a:solidFill>
          <a:ln w="12700">
            <a:solidFill>
              <a:srgbClr val="5DADE2">
                <a:alpha val="40000"/>
              </a:srgbClr>
            </a:solidFill>
            <a:prstDash val="solid"/>
          </a:ln>
        </p:spPr>
        <p:txBody>
          <a:bodyPr/>
          <a:lstStyle/>
          <a:p>
            <a:endParaRPr lang="en-US"/>
          </a:p>
        </p:txBody>
      </p:sp>
      <p:sp>
        <p:nvSpPr>
          <p:cNvPr id="23" name="Text 21"/>
          <p:cNvSpPr/>
          <p:nvPr/>
        </p:nvSpPr>
        <p:spPr>
          <a:xfrm>
            <a:off x="4590288" y="1929384"/>
            <a:ext cx="1234440" cy="219456"/>
          </a:xfrm>
          <a:prstGeom prst="rect">
            <a:avLst/>
          </a:prstGeom>
          <a:noFill/>
          <a:ln/>
        </p:spPr>
        <p:txBody>
          <a:bodyPr wrap="square" rtlCol="0" anchor="ctr"/>
          <a:lstStyle/>
          <a:p>
            <a:pPr marL="0" indent="0" algn="ctr">
              <a:buNone/>
            </a:pPr>
            <a:r>
              <a:rPr lang="en-US" sz="900" dirty="0">
                <a:solidFill>
                  <a:srgbClr val="1A2B42"/>
                </a:solidFill>
              </a:rPr>
              <a:t>📊 Score: 0.5–0.65</a:t>
            </a:r>
            <a:endParaRPr lang="en-US" sz="900" dirty="0"/>
          </a:p>
        </p:txBody>
      </p:sp>
      <p:sp>
        <p:nvSpPr>
          <p:cNvPr id="24" name="Text 22"/>
          <p:cNvSpPr/>
          <p:nvPr/>
        </p:nvSpPr>
        <p:spPr>
          <a:xfrm>
            <a:off x="3246120" y="2212848"/>
            <a:ext cx="2606040" cy="594360"/>
          </a:xfrm>
          <a:prstGeom prst="rect">
            <a:avLst/>
          </a:prstGeom>
          <a:noFill/>
          <a:ln/>
        </p:spPr>
        <p:txBody>
          <a:bodyPr wrap="square" rtlCol="0" anchor="ctr"/>
          <a:lstStyle/>
          <a:p>
            <a:pPr marL="0" indent="0" algn="l">
              <a:buNone/>
            </a:pPr>
            <a:r>
              <a:rPr lang="en-US" sz="950" dirty="0">
                <a:solidFill>
                  <a:srgbClr val="4A5568"/>
                </a:solidFill>
              </a:rPr>
              <a:t>Newer employees who are settled but not yet deeply engaged.</a:t>
            </a:r>
            <a:endParaRPr lang="en-US" sz="950" dirty="0"/>
          </a:p>
        </p:txBody>
      </p:sp>
      <p:sp>
        <p:nvSpPr>
          <p:cNvPr id="25" name="Shape 23"/>
          <p:cNvSpPr/>
          <p:nvPr/>
        </p:nvSpPr>
        <p:spPr>
          <a:xfrm>
            <a:off x="6117336" y="1280160"/>
            <a:ext cx="2788920" cy="1600200"/>
          </a:xfrm>
          <a:prstGeom prst="rect">
            <a:avLst/>
          </a:prstGeom>
          <a:solidFill>
            <a:srgbClr val="E8F8F0"/>
          </a:solidFill>
          <a:ln w="12700">
            <a:solidFill>
              <a:srgbClr val="2ECC71">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26" name="Shape 24"/>
          <p:cNvSpPr/>
          <p:nvPr/>
        </p:nvSpPr>
        <p:spPr>
          <a:xfrm>
            <a:off x="6117336" y="1280160"/>
            <a:ext cx="2788920" cy="201168"/>
          </a:xfrm>
          <a:prstGeom prst="rect">
            <a:avLst/>
          </a:prstGeom>
          <a:solidFill>
            <a:srgbClr val="2ECC71"/>
          </a:solidFill>
          <a:ln w="12700">
            <a:solidFill>
              <a:srgbClr val="2ECC71"/>
            </a:solidFill>
            <a:prstDash val="solid"/>
          </a:ln>
        </p:spPr>
        <p:txBody>
          <a:bodyPr/>
          <a:lstStyle/>
          <a:p>
            <a:endParaRPr lang="en-US"/>
          </a:p>
        </p:txBody>
      </p:sp>
      <p:sp>
        <p:nvSpPr>
          <p:cNvPr id="27" name="Shape 25"/>
          <p:cNvSpPr/>
          <p:nvPr/>
        </p:nvSpPr>
        <p:spPr>
          <a:xfrm>
            <a:off x="7763256" y="1307592"/>
            <a:ext cx="1051560" cy="155448"/>
          </a:xfrm>
          <a:prstGeom prst="rect">
            <a:avLst/>
          </a:prstGeom>
          <a:solidFill>
            <a:srgbClr val="FFFFFF">
              <a:alpha val="60000"/>
            </a:srgbClr>
          </a:solidFill>
          <a:ln w="12700">
            <a:solidFill>
              <a:srgbClr val="FFFFFF">
                <a:alpha val="40000"/>
              </a:srgbClr>
            </a:solidFill>
            <a:prstDash val="solid"/>
          </a:ln>
        </p:spPr>
        <p:txBody>
          <a:bodyPr/>
          <a:lstStyle/>
          <a:p>
            <a:endParaRPr lang="en-US"/>
          </a:p>
        </p:txBody>
      </p:sp>
      <p:sp>
        <p:nvSpPr>
          <p:cNvPr id="28" name="Text 26"/>
          <p:cNvSpPr/>
          <p:nvPr/>
        </p:nvSpPr>
        <p:spPr>
          <a:xfrm>
            <a:off x="7763256" y="1307592"/>
            <a:ext cx="1051560" cy="155448"/>
          </a:xfrm>
          <a:prstGeom prst="rect">
            <a:avLst/>
          </a:prstGeom>
          <a:noFill/>
          <a:ln/>
        </p:spPr>
        <p:txBody>
          <a:bodyPr wrap="square" rtlCol="0" anchor="ctr"/>
          <a:lstStyle/>
          <a:p>
            <a:pPr marL="0" indent="0" algn="ctr">
              <a:buNone/>
            </a:pPr>
            <a:r>
              <a:rPr lang="en-US" sz="700" b="1" dirty="0">
                <a:solidFill>
                  <a:srgbClr val="FFFFFF"/>
                </a:solidFill>
              </a:rPr>
              <a:t>ALREADY LEFT</a:t>
            </a:r>
            <a:endParaRPr lang="en-US" sz="700" dirty="0"/>
          </a:p>
        </p:txBody>
      </p:sp>
      <p:sp>
        <p:nvSpPr>
          <p:cNvPr id="29" name="Text 27"/>
          <p:cNvSpPr/>
          <p:nvPr/>
        </p:nvSpPr>
        <p:spPr>
          <a:xfrm>
            <a:off x="6190488" y="1517904"/>
            <a:ext cx="2606040" cy="411480"/>
          </a:xfrm>
          <a:prstGeom prst="rect">
            <a:avLst/>
          </a:prstGeom>
          <a:noFill/>
          <a:ln/>
        </p:spPr>
        <p:txBody>
          <a:bodyPr wrap="square" rtlCol="0" anchor="ctr"/>
          <a:lstStyle/>
          <a:p>
            <a:pPr marL="0" indent="0" algn="l">
              <a:buNone/>
            </a:pPr>
            <a:r>
              <a:rPr lang="en-US" sz="1200" b="1" dirty="0">
                <a:solidFill>
                  <a:srgbClr val="2ECC71"/>
                </a:solidFill>
              </a:rPr>
              <a:t>✈️  Happy Departures</a:t>
            </a:r>
            <a:endParaRPr lang="en-US" sz="1200" dirty="0"/>
          </a:p>
        </p:txBody>
      </p:sp>
      <p:sp>
        <p:nvSpPr>
          <p:cNvPr id="30" name="Shape 28"/>
          <p:cNvSpPr/>
          <p:nvPr/>
        </p:nvSpPr>
        <p:spPr>
          <a:xfrm>
            <a:off x="6190488" y="1920240"/>
            <a:ext cx="1234440" cy="228600"/>
          </a:xfrm>
          <a:prstGeom prst="rect">
            <a:avLst/>
          </a:prstGeom>
          <a:solidFill>
            <a:srgbClr val="2ECC71">
              <a:alpha val="25000"/>
            </a:srgbClr>
          </a:solidFill>
          <a:ln w="12700">
            <a:solidFill>
              <a:srgbClr val="2ECC71">
                <a:alpha val="40000"/>
              </a:srgbClr>
            </a:solidFill>
            <a:prstDash val="solid"/>
          </a:ln>
        </p:spPr>
        <p:txBody>
          <a:bodyPr/>
          <a:lstStyle/>
          <a:p>
            <a:endParaRPr lang="en-US"/>
          </a:p>
        </p:txBody>
      </p:sp>
      <p:sp>
        <p:nvSpPr>
          <p:cNvPr id="31" name="Text 29"/>
          <p:cNvSpPr/>
          <p:nvPr/>
        </p:nvSpPr>
        <p:spPr>
          <a:xfrm>
            <a:off x="6190488" y="1929384"/>
            <a:ext cx="1234440" cy="219456"/>
          </a:xfrm>
          <a:prstGeom prst="rect">
            <a:avLst/>
          </a:prstGeom>
          <a:noFill/>
          <a:ln/>
        </p:spPr>
        <p:txBody>
          <a:bodyPr wrap="square" rtlCol="0" anchor="ctr"/>
          <a:lstStyle/>
          <a:p>
            <a:pPr marL="0" indent="0" algn="ctr">
              <a:buNone/>
            </a:pPr>
            <a:r>
              <a:rPr lang="en-US" sz="900" dirty="0">
                <a:solidFill>
                  <a:srgbClr val="1A2B42"/>
                </a:solidFill>
              </a:rPr>
              <a:t>⏱ Varied</a:t>
            </a:r>
            <a:endParaRPr lang="en-US" sz="900" dirty="0"/>
          </a:p>
        </p:txBody>
      </p:sp>
      <p:sp>
        <p:nvSpPr>
          <p:cNvPr id="32" name="Shape 30"/>
          <p:cNvSpPr/>
          <p:nvPr/>
        </p:nvSpPr>
        <p:spPr>
          <a:xfrm>
            <a:off x="7534656" y="1920240"/>
            <a:ext cx="1234440" cy="228600"/>
          </a:xfrm>
          <a:prstGeom prst="rect">
            <a:avLst/>
          </a:prstGeom>
          <a:solidFill>
            <a:srgbClr val="2ECC71">
              <a:alpha val="25000"/>
            </a:srgbClr>
          </a:solidFill>
          <a:ln w="12700">
            <a:solidFill>
              <a:srgbClr val="2ECC71">
                <a:alpha val="40000"/>
              </a:srgbClr>
            </a:solidFill>
            <a:prstDash val="solid"/>
          </a:ln>
        </p:spPr>
        <p:txBody>
          <a:bodyPr/>
          <a:lstStyle/>
          <a:p>
            <a:endParaRPr lang="en-US"/>
          </a:p>
        </p:txBody>
      </p:sp>
      <p:sp>
        <p:nvSpPr>
          <p:cNvPr id="33" name="Text 31"/>
          <p:cNvSpPr/>
          <p:nvPr/>
        </p:nvSpPr>
        <p:spPr>
          <a:xfrm>
            <a:off x="7534656" y="1929384"/>
            <a:ext cx="1234440" cy="219456"/>
          </a:xfrm>
          <a:prstGeom prst="rect">
            <a:avLst/>
          </a:prstGeom>
          <a:noFill/>
          <a:ln/>
        </p:spPr>
        <p:txBody>
          <a:bodyPr wrap="square" rtlCol="0" anchor="ctr"/>
          <a:lstStyle/>
          <a:p>
            <a:pPr marL="0" indent="0" algn="ctr">
              <a:buNone/>
            </a:pPr>
            <a:r>
              <a:rPr lang="en-US" sz="900" dirty="0">
                <a:solidFill>
                  <a:srgbClr val="1A2B42"/>
                </a:solidFill>
              </a:rPr>
              <a:t>📊 Score: 0.6+</a:t>
            </a:r>
            <a:endParaRPr lang="en-US" sz="900" dirty="0"/>
          </a:p>
        </p:txBody>
      </p:sp>
      <p:sp>
        <p:nvSpPr>
          <p:cNvPr id="34" name="Text 32"/>
          <p:cNvSpPr/>
          <p:nvPr/>
        </p:nvSpPr>
        <p:spPr>
          <a:xfrm>
            <a:off x="6190488" y="2212848"/>
            <a:ext cx="2606040" cy="594360"/>
          </a:xfrm>
          <a:prstGeom prst="rect">
            <a:avLst/>
          </a:prstGeom>
          <a:noFill/>
          <a:ln/>
        </p:spPr>
        <p:txBody>
          <a:bodyPr wrap="square" rtlCol="0" anchor="ctr"/>
          <a:lstStyle/>
          <a:p>
            <a:pPr marL="0" indent="0" algn="l">
              <a:buNone/>
            </a:pPr>
            <a:r>
              <a:rPr lang="en-US" sz="950" dirty="0">
                <a:solidFill>
                  <a:srgbClr val="4A5568"/>
                </a:solidFill>
              </a:rPr>
              <a:t>Left on good terms — healthy turnover. Alumni who can become ambassadors.</a:t>
            </a:r>
            <a:endParaRPr lang="en-US" sz="950" dirty="0"/>
          </a:p>
        </p:txBody>
      </p:sp>
      <p:sp>
        <p:nvSpPr>
          <p:cNvPr id="35" name="Shape 33"/>
          <p:cNvSpPr/>
          <p:nvPr/>
        </p:nvSpPr>
        <p:spPr>
          <a:xfrm>
            <a:off x="228600" y="3017520"/>
            <a:ext cx="2788920" cy="1600200"/>
          </a:xfrm>
          <a:prstGeom prst="rect">
            <a:avLst/>
          </a:prstGeom>
          <a:solidFill>
            <a:srgbClr val="FEFDE7"/>
          </a:solidFill>
          <a:ln w="12700">
            <a:solidFill>
              <a:srgbClr val="F4D03F">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36" name="Shape 34"/>
          <p:cNvSpPr/>
          <p:nvPr/>
        </p:nvSpPr>
        <p:spPr>
          <a:xfrm>
            <a:off x="228600" y="3017520"/>
            <a:ext cx="2788920" cy="201168"/>
          </a:xfrm>
          <a:prstGeom prst="rect">
            <a:avLst/>
          </a:prstGeom>
          <a:solidFill>
            <a:srgbClr val="F4D03F"/>
          </a:solidFill>
          <a:ln w="12700">
            <a:solidFill>
              <a:srgbClr val="F4D03F"/>
            </a:solidFill>
            <a:prstDash val="solid"/>
          </a:ln>
        </p:spPr>
        <p:txBody>
          <a:bodyPr/>
          <a:lstStyle/>
          <a:p>
            <a:endParaRPr lang="en-US"/>
          </a:p>
        </p:txBody>
      </p:sp>
      <p:sp>
        <p:nvSpPr>
          <p:cNvPr id="37" name="Shape 35"/>
          <p:cNvSpPr/>
          <p:nvPr/>
        </p:nvSpPr>
        <p:spPr>
          <a:xfrm>
            <a:off x="1874520" y="3044952"/>
            <a:ext cx="1051560" cy="155448"/>
          </a:xfrm>
          <a:prstGeom prst="rect">
            <a:avLst/>
          </a:prstGeom>
          <a:solidFill>
            <a:srgbClr val="FFFFFF">
              <a:alpha val="60000"/>
            </a:srgbClr>
          </a:solidFill>
          <a:ln w="12700">
            <a:solidFill>
              <a:srgbClr val="FFFFFF">
                <a:alpha val="40000"/>
              </a:srgbClr>
            </a:solidFill>
            <a:prstDash val="solid"/>
          </a:ln>
        </p:spPr>
        <p:txBody>
          <a:bodyPr/>
          <a:lstStyle/>
          <a:p>
            <a:endParaRPr lang="en-US"/>
          </a:p>
        </p:txBody>
      </p:sp>
      <p:sp>
        <p:nvSpPr>
          <p:cNvPr id="38" name="Text 36"/>
          <p:cNvSpPr/>
          <p:nvPr/>
        </p:nvSpPr>
        <p:spPr>
          <a:xfrm>
            <a:off x="1874520" y="3044952"/>
            <a:ext cx="1051560" cy="155448"/>
          </a:xfrm>
          <a:prstGeom prst="rect">
            <a:avLst/>
          </a:prstGeom>
          <a:noFill/>
          <a:ln/>
        </p:spPr>
        <p:txBody>
          <a:bodyPr wrap="square" rtlCol="0" anchor="ctr"/>
          <a:lstStyle/>
          <a:p>
            <a:pPr marL="0" indent="0" algn="ctr">
              <a:buNone/>
            </a:pPr>
            <a:r>
              <a:rPr lang="en-US" sz="700" b="1" dirty="0">
                <a:solidFill>
                  <a:srgbClr val="1E3A5F"/>
                </a:solidFill>
              </a:rPr>
              <a:t>AT RISK</a:t>
            </a:r>
            <a:endParaRPr lang="en-US" sz="700" dirty="0"/>
          </a:p>
        </p:txBody>
      </p:sp>
      <p:sp>
        <p:nvSpPr>
          <p:cNvPr id="39" name="Text 37"/>
          <p:cNvSpPr/>
          <p:nvPr/>
        </p:nvSpPr>
        <p:spPr>
          <a:xfrm>
            <a:off x="301752" y="3255264"/>
            <a:ext cx="2606040" cy="411480"/>
          </a:xfrm>
          <a:prstGeom prst="rect">
            <a:avLst/>
          </a:prstGeom>
          <a:noFill/>
          <a:ln/>
        </p:spPr>
        <p:txBody>
          <a:bodyPr wrap="square" rtlCol="0" anchor="ctr"/>
          <a:lstStyle/>
          <a:p>
            <a:pPr marL="0" indent="0" algn="l">
              <a:buNone/>
            </a:pPr>
            <a:r>
              <a:rPr lang="en-US" sz="1200" b="1" dirty="0">
                <a:solidFill>
                  <a:srgbClr val="1E3A5F"/>
                </a:solidFill>
              </a:rPr>
              <a:t>🆕  New Hire Risk</a:t>
            </a:r>
            <a:endParaRPr lang="en-US" sz="1200" dirty="0"/>
          </a:p>
        </p:txBody>
      </p:sp>
      <p:sp>
        <p:nvSpPr>
          <p:cNvPr id="40" name="Shape 38"/>
          <p:cNvSpPr/>
          <p:nvPr/>
        </p:nvSpPr>
        <p:spPr>
          <a:xfrm>
            <a:off x="301752" y="3657600"/>
            <a:ext cx="1234440" cy="228600"/>
          </a:xfrm>
          <a:prstGeom prst="rect">
            <a:avLst/>
          </a:prstGeom>
          <a:solidFill>
            <a:srgbClr val="F4D03F">
              <a:alpha val="25000"/>
            </a:srgbClr>
          </a:solidFill>
          <a:ln w="12700">
            <a:solidFill>
              <a:srgbClr val="F4D03F">
                <a:alpha val="40000"/>
              </a:srgbClr>
            </a:solidFill>
            <a:prstDash val="solid"/>
          </a:ln>
        </p:spPr>
        <p:txBody>
          <a:bodyPr/>
          <a:lstStyle/>
          <a:p>
            <a:endParaRPr lang="en-US"/>
          </a:p>
        </p:txBody>
      </p:sp>
      <p:sp>
        <p:nvSpPr>
          <p:cNvPr id="41" name="Text 39"/>
          <p:cNvSpPr/>
          <p:nvPr/>
        </p:nvSpPr>
        <p:spPr>
          <a:xfrm>
            <a:off x="301752" y="3666744"/>
            <a:ext cx="1234440" cy="219456"/>
          </a:xfrm>
          <a:prstGeom prst="rect">
            <a:avLst/>
          </a:prstGeom>
          <a:noFill/>
          <a:ln/>
        </p:spPr>
        <p:txBody>
          <a:bodyPr wrap="square" rtlCol="0" anchor="ctr"/>
          <a:lstStyle/>
          <a:p>
            <a:pPr marL="0" indent="0" algn="ctr">
              <a:buNone/>
            </a:pPr>
            <a:r>
              <a:rPr lang="en-US" sz="900" dirty="0">
                <a:solidFill>
                  <a:srgbClr val="1A2B42"/>
                </a:solidFill>
              </a:rPr>
              <a:t>⏱ &lt; 1 year</a:t>
            </a:r>
            <a:endParaRPr lang="en-US" sz="900" dirty="0"/>
          </a:p>
        </p:txBody>
      </p:sp>
      <p:sp>
        <p:nvSpPr>
          <p:cNvPr id="42" name="Shape 40"/>
          <p:cNvSpPr/>
          <p:nvPr/>
        </p:nvSpPr>
        <p:spPr>
          <a:xfrm>
            <a:off x="1645920" y="3657600"/>
            <a:ext cx="1234440" cy="228600"/>
          </a:xfrm>
          <a:prstGeom prst="rect">
            <a:avLst/>
          </a:prstGeom>
          <a:solidFill>
            <a:srgbClr val="F4D03F">
              <a:alpha val="25000"/>
            </a:srgbClr>
          </a:solidFill>
          <a:ln w="12700">
            <a:solidFill>
              <a:srgbClr val="F4D03F">
                <a:alpha val="40000"/>
              </a:srgbClr>
            </a:solidFill>
            <a:prstDash val="solid"/>
          </a:ln>
        </p:spPr>
        <p:txBody>
          <a:bodyPr/>
          <a:lstStyle/>
          <a:p>
            <a:endParaRPr lang="en-US"/>
          </a:p>
        </p:txBody>
      </p:sp>
      <p:sp>
        <p:nvSpPr>
          <p:cNvPr id="43" name="Text 41"/>
          <p:cNvSpPr/>
          <p:nvPr/>
        </p:nvSpPr>
        <p:spPr>
          <a:xfrm>
            <a:off x="1645920" y="3666744"/>
            <a:ext cx="1234440" cy="219456"/>
          </a:xfrm>
          <a:prstGeom prst="rect">
            <a:avLst/>
          </a:prstGeom>
          <a:noFill/>
          <a:ln/>
        </p:spPr>
        <p:txBody>
          <a:bodyPr wrap="square" rtlCol="0" anchor="ctr"/>
          <a:lstStyle/>
          <a:p>
            <a:pPr marL="0" indent="0" algn="ctr">
              <a:buNone/>
            </a:pPr>
            <a:r>
              <a:rPr lang="en-US" sz="900" dirty="0">
                <a:solidFill>
                  <a:srgbClr val="1A2B42"/>
                </a:solidFill>
              </a:rPr>
              <a:t>📊 Score: &lt; 0.5</a:t>
            </a:r>
            <a:endParaRPr lang="en-US" sz="900" dirty="0"/>
          </a:p>
        </p:txBody>
      </p:sp>
      <p:sp>
        <p:nvSpPr>
          <p:cNvPr id="44" name="Text 42"/>
          <p:cNvSpPr/>
          <p:nvPr/>
        </p:nvSpPr>
        <p:spPr>
          <a:xfrm>
            <a:off x="301752" y="3950208"/>
            <a:ext cx="2606040" cy="594360"/>
          </a:xfrm>
          <a:prstGeom prst="rect">
            <a:avLst/>
          </a:prstGeom>
          <a:noFill/>
          <a:ln/>
        </p:spPr>
        <p:txBody>
          <a:bodyPr wrap="square" rtlCol="0" anchor="ctr"/>
          <a:lstStyle/>
          <a:p>
            <a:pPr marL="0" indent="0" algn="l">
              <a:buNone/>
            </a:pPr>
            <a:r>
              <a:rPr lang="en-US" sz="950" dirty="0">
                <a:solidFill>
                  <a:srgbClr val="4A5568"/>
                </a:solidFill>
              </a:rPr>
              <a:t>Brand new and already disengaged. Onboarding and early support are critical.</a:t>
            </a:r>
            <a:endParaRPr lang="en-US" sz="950" dirty="0"/>
          </a:p>
        </p:txBody>
      </p:sp>
      <p:sp>
        <p:nvSpPr>
          <p:cNvPr id="45" name="Shape 43"/>
          <p:cNvSpPr/>
          <p:nvPr/>
        </p:nvSpPr>
        <p:spPr>
          <a:xfrm>
            <a:off x="3172968" y="3017520"/>
            <a:ext cx="2788920" cy="1600200"/>
          </a:xfrm>
          <a:prstGeom prst="rect">
            <a:avLst/>
          </a:prstGeom>
          <a:solidFill>
            <a:srgbClr val="E8F8F5"/>
          </a:solidFill>
          <a:ln w="12700">
            <a:solidFill>
              <a:srgbClr val="1ABC9C">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46" name="Shape 44"/>
          <p:cNvSpPr/>
          <p:nvPr/>
        </p:nvSpPr>
        <p:spPr>
          <a:xfrm>
            <a:off x="3172968" y="3017520"/>
            <a:ext cx="2788920" cy="201168"/>
          </a:xfrm>
          <a:prstGeom prst="rect">
            <a:avLst/>
          </a:prstGeom>
          <a:solidFill>
            <a:srgbClr val="1ABC9C"/>
          </a:solidFill>
          <a:ln w="12700">
            <a:solidFill>
              <a:srgbClr val="1ABC9C"/>
            </a:solidFill>
            <a:prstDash val="solid"/>
          </a:ln>
        </p:spPr>
        <p:txBody>
          <a:bodyPr/>
          <a:lstStyle/>
          <a:p>
            <a:endParaRPr lang="en-US"/>
          </a:p>
        </p:txBody>
      </p:sp>
      <p:sp>
        <p:nvSpPr>
          <p:cNvPr id="47" name="Shape 45"/>
          <p:cNvSpPr/>
          <p:nvPr/>
        </p:nvSpPr>
        <p:spPr>
          <a:xfrm>
            <a:off x="4818888" y="3044952"/>
            <a:ext cx="1051560" cy="155448"/>
          </a:xfrm>
          <a:prstGeom prst="rect">
            <a:avLst/>
          </a:prstGeom>
          <a:solidFill>
            <a:srgbClr val="FFFFFF">
              <a:alpha val="60000"/>
            </a:srgbClr>
          </a:solidFill>
          <a:ln w="12700">
            <a:solidFill>
              <a:srgbClr val="FFFFFF">
                <a:alpha val="40000"/>
              </a:srgbClr>
            </a:solidFill>
            <a:prstDash val="solid"/>
          </a:ln>
        </p:spPr>
        <p:txBody>
          <a:bodyPr/>
          <a:lstStyle/>
          <a:p>
            <a:endParaRPr lang="en-US"/>
          </a:p>
        </p:txBody>
      </p:sp>
      <p:sp>
        <p:nvSpPr>
          <p:cNvPr id="48" name="Text 46"/>
          <p:cNvSpPr/>
          <p:nvPr/>
        </p:nvSpPr>
        <p:spPr>
          <a:xfrm>
            <a:off x="4818888" y="3044952"/>
            <a:ext cx="1051560" cy="155448"/>
          </a:xfrm>
          <a:prstGeom prst="rect">
            <a:avLst/>
          </a:prstGeom>
          <a:noFill/>
          <a:ln/>
        </p:spPr>
        <p:txBody>
          <a:bodyPr wrap="square" rtlCol="0" anchor="ctr"/>
          <a:lstStyle/>
          <a:p>
            <a:pPr marL="0" indent="0" algn="ctr">
              <a:buNone/>
            </a:pPr>
            <a:r>
              <a:rPr lang="en-US" sz="700" b="1" dirty="0">
                <a:solidFill>
                  <a:srgbClr val="FFFFFF"/>
                </a:solidFill>
              </a:rPr>
              <a:t>STABLE</a:t>
            </a:r>
            <a:endParaRPr lang="en-US" sz="700" dirty="0"/>
          </a:p>
        </p:txBody>
      </p:sp>
      <p:sp>
        <p:nvSpPr>
          <p:cNvPr id="49" name="Text 47"/>
          <p:cNvSpPr/>
          <p:nvPr/>
        </p:nvSpPr>
        <p:spPr>
          <a:xfrm>
            <a:off x="3246120" y="3255264"/>
            <a:ext cx="2606040" cy="411480"/>
          </a:xfrm>
          <a:prstGeom prst="rect">
            <a:avLst/>
          </a:prstGeom>
          <a:noFill/>
          <a:ln/>
        </p:spPr>
        <p:txBody>
          <a:bodyPr wrap="square" rtlCol="0" anchor="ctr"/>
          <a:lstStyle/>
          <a:p>
            <a:pPr marL="0" indent="0" algn="l">
              <a:buNone/>
            </a:pPr>
            <a:r>
              <a:rPr lang="en-US" sz="1200" b="1" dirty="0">
                <a:solidFill>
                  <a:srgbClr val="1ABC9C"/>
                </a:solidFill>
              </a:rPr>
              <a:t>✅  Safe Zone</a:t>
            </a:r>
            <a:endParaRPr lang="en-US" sz="1200" dirty="0"/>
          </a:p>
        </p:txBody>
      </p:sp>
      <p:sp>
        <p:nvSpPr>
          <p:cNvPr id="50" name="Shape 48"/>
          <p:cNvSpPr/>
          <p:nvPr/>
        </p:nvSpPr>
        <p:spPr>
          <a:xfrm>
            <a:off x="3246120" y="3657600"/>
            <a:ext cx="1234440" cy="228600"/>
          </a:xfrm>
          <a:prstGeom prst="rect">
            <a:avLst/>
          </a:prstGeom>
          <a:solidFill>
            <a:srgbClr val="1ABC9C">
              <a:alpha val="25000"/>
            </a:srgbClr>
          </a:solidFill>
          <a:ln w="12700">
            <a:solidFill>
              <a:srgbClr val="1ABC9C">
                <a:alpha val="40000"/>
              </a:srgbClr>
            </a:solidFill>
            <a:prstDash val="solid"/>
          </a:ln>
        </p:spPr>
        <p:txBody>
          <a:bodyPr/>
          <a:lstStyle/>
          <a:p>
            <a:endParaRPr lang="en-US"/>
          </a:p>
        </p:txBody>
      </p:sp>
      <p:sp>
        <p:nvSpPr>
          <p:cNvPr id="51" name="Text 49"/>
          <p:cNvSpPr/>
          <p:nvPr/>
        </p:nvSpPr>
        <p:spPr>
          <a:xfrm>
            <a:off x="3246120" y="3666744"/>
            <a:ext cx="1234440" cy="219456"/>
          </a:xfrm>
          <a:prstGeom prst="rect">
            <a:avLst/>
          </a:prstGeom>
          <a:noFill/>
          <a:ln/>
        </p:spPr>
        <p:txBody>
          <a:bodyPr wrap="square" rtlCol="0" anchor="ctr"/>
          <a:lstStyle/>
          <a:p>
            <a:pPr marL="0" indent="0" algn="ctr">
              <a:buNone/>
            </a:pPr>
            <a:r>
              <a:rPr lang="en-US" sz="900" dirty="0">
                <a:solidFill>
                  <a:srgbClr val="1A2B42"/>
                </a:solidFill>
              </a:rPr>
              <a:t>⏱ Varied</a:t>
            </a:r>
            <a:endParaRPr lang="en-US" sz="900" dirty="0"/>
          </a:p>
        </p:txBody>
      </p:sp>
      <p:sp>
        <p:nvSpPr>
          <p:cNvPr id="52" name="Shape 50"/>
          <p:cNvSpPr/>
          <p:nvPr/>
        </p:nvSpPr>
        <p:spPr>
          <a:xfrm>
            <a:off x="4590288" y="3657600"/>
            <a:ext cx="1234440" cy="228600"/>
          </a:xfrm>
          <a:prstGeom prst="rect">
            <a:avLst/>
          </a:prstGeom>
          <a:solidFill>
            <a:srgbClr val="1ABC9C">
              <a:alpha val="25000"/>
            </a:srgbClr>
          </a:solidFill>
          <a:ln w="12700">
            <a:solidFill>
              <a:srgbClr val="1ABC9C">
                <a:alpha val="40000"/>
              </a:srgbClr>
            </a:solidFill>
            <a:prstDash val="solid"/>
          </a:ln>
        </p:spPr>
        <p:txBody>
          <a:bodyPr/>
          <a:lstStyle/>
          <a:p>
            <a:endParaRPr lang="en-US"/>
          </a:p>
        </p:txBody>
      </p:sp>
      <p:sp>
        <p:nvSpPr>
          <p:cNvPr id="53" name="Text 51"/>
          <p:cNvSpPr/>
          <p:nvPr/>
        </p:nvSpPr>
        <p:spPr>
          <a:xfrm>
            <a:off x="4590288" y="3666744"/>
            <a:ext cx="1234440" cy="219456"/>
          </a:xfrm>
          <a:prstGeom prst="rect">
            <a:avLst/>
          </a:prstGeom>
          <a:noFill/>
          <a:ln/>
        </p:spPr>
        <p:txBody>
          <a:bodyPr wrap="square" rtlCol="0" anchor="ctr"/>
          <a:lstStyle/>
          <a:p>
            <a:pPr marL="0" indent="0" algn="ctr">
              <a:buNone/>
            </a:pPr>
            <a:r>
              <a:rPr lang="en-US" sz="900" dirty="0">
                <a:solidFill>
                  <a:srgbClr val="1A2B42"/>
                </a:solidFill>
              </a:rPr>
              <a:t>📊 Score: 0.65+</a:t>
            </a:r>
            <a:endParaRPr lang="en-US" sz="900" dirty="0"/>
          </a:p>
        </p:txBody>
      </p:sp>
      <p:sp>
        <p:nvSpPr>
          <p:cNvPr id="54" name="Text 52"/>
          <p:cNvSpPr/>
          <p:nvPr/>
        </p:nvSpPr>
        <p:spPr>
          <a:xfrm>
            <a:off x="3246120" y="3950208"/>
            <a:ext cx="2606040" cy="594360"/>
          </a:xfrm>
          <a:prstGeom prst="rect">
            <a:avLst/>
          </a:prstGeom>
          <a:noFill/>
          <a:ln/>
        </p:spPr>
        <p:txBody>
          <a:bodyPr wrap="square" rtlCol="0" anchor="ctr"/>
          <a:lstStyle/>
          <a:p>
            <a:pPr marL="0" indent="0" algn="l">
              <a:buNone/>
            </a:pPr>
            <a:r>
              <a:rPr lang="en-US" sz="950" dirty="0">
                <a:solidFill>
                  <a:srgbClr val="4A5568"/>
                </a:solidFill>
              </a:rPr>
              <a:t>Our strongest performers — happy, stable, and staying. Protect this group!</a:t>
            </a:r>
            <a:endParaRPr lang="en-US" sz="950" dirty="0"/>
          </a:p>
        </p:txBody>
      </p:sp>
      <p:sp>
        <p:nvSpPr>
          <p:cNvPr id="55" name="Shape 53"/>
          <p:cNvSpPr/>
          <p:nvPr/>
        </p:nvSpPr>
        <p:spPr>
          <a:xfrm>
            <a:off x="6117336" y="3017520"/>
            <a:ext cx="2788920" cy="1600200"/>
          </a:xfrm>
          <a:prstGeom prst="rect">
            <a:avLst/>
          </a:prstGeom>
          <a:solidFill>
            <a:srgbClr val="F5EEF8"/>
          </a:solidFill>
          <a:ln w="12700">
            <a:solidFill>
              <a:srgbClr val="8E44AD">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56" name="Shape 54"/>
          <p:cNvSpPr/>
          <p:nvPr/>
        </p:nvSpPr>
        <p:spPr>
          <a:xfrm>
            <a:off x="6117336" y="3017520"/>
            <a:ext cx="2788920" cy="201168"/>
          </a:xfrm>
          <a:prstGeom prst="rect">
            <a:avLst/>
          </a:prstGeom>
          <a:solidFill>
            <a:srgbClr val="8E44AD"/>
          </a:solidFill>
          <a:ln w="12700">
            <a:solidFill>
              <a:srgbClr val="8E44AD"/>
            </a:solidFill>
            <a:prstDash val="solid"/>
          </a:ln>
        </p:spPr>
        <p:txBody>
          <a:bodyPr/>
          <a:lstStyle/>
          <a:p>
            <a:endParaRPr lang="en-US"/>
          </a:p>
        </p:txBody>
      </p:sp>
      <p:sp>
        <p:nvSpPr>
          <p:cNvPr id="57" name="Shape 55"/>
          <p:cNvSpPr/>
          <p:nvPr/>
        </p:nvSpPr>
        <p:spPr>
          <a:xfrm>
            <a:off x="7763256" y="3044952"/>
            <a:ext cx="1051560" cy="155448"/>
          </a:xfrm>
          <a:prstGeom prst="rect">
            <a:avLst/>
          </a:prstGeom>
          <a:solidFill>
            <a:srgbClr val="FFFFFF">
              <a:alpha val="60000"/>
            </a:srgbClr>
          </a:solidFill>
          <a:ln w="12700">
            <a:solidFill>
              <a:srgbClr val="FFFFFF">
                <a:alpha val="40000"/>
              </a:srgbClr>
            </a:solidFill>
            <a:prstDash val="solid"/>
          </a:ln>
        </p:spPr>
        <p:txBody>
          <a:bodyPr/>
          <a:lstStyle/>
          <a:p>
            <a:endParaRPr lang="en-US"/>
          </a:p>
        </p:txBody>
      </p:sp>
      <p:sp>
        <p:nvSpPr>
          <p:cNvPr id="58" name="Text 56"/>
          <p:cNvSpPr/>
          <p:nvPr/>
        </p:nvSpPr>
        <p:spPr>
          <a:xfrm>
            <a:off x="7763256" y="3044952"/>
            <a:ext cx="1051560" cy="155448"/>
          </a:xfrm>
          <a:prstGeom prst="rect">
            <a:avLst/>
          </a:prstGeom>
          <a:noFill/>
          <a:ln/>
        </p:spPr>
        <p:txBody>
          <a:bodyPr wrap="square" rtlCol="0" anchor="ctr"/>
          <a:lstStyle/>
          <a:p>
            <a:pPr marL="0" indent="0" algn="ctr">
              <a:buNone/>
            </a:pPr>
            <a:r>
              <a:rPr lang="en-US" sz="700" b="1" dirty="0">
                <a:solidFill>
                  <a:srgbClr val="FFFFFF"/>
                </a:solidFill>
              </a:rPr>
              <a:t>ALREADY LEFT</a:t>
            </a:r>
            <a:endParaRPr lang="en-US" sz="700" dirty="0"/>
          </a:p>
        </p:txBody>
      </p:sp>
      <p:sp>
        <p:nvSpPr>
          <p:cNvPr id="59" name="Text 57"/>
          <p:cNvSpPr/>
          <p:nvPr/>
        </p:nvSpPr>
        <p:spPr>
          <a:xfrm>
            <a:off x="6190488" y="3255264"/>
            <a:ext cx="2606040" cy="411480"/>
          </a:xfrm>
          <a:prstGeom prst="rect">
            <a:avLst/>
          </a:prstGeom>
          <a:noFill/>
          <a:ln/>
        </p:spPr>
        <p:txBody>
          <a:bodyPr wrap="square" rtlCol="0" anchor="ctr"/>
          <a:lstStyle/>
          <a:p>
            <a:pPr marL="0" indent="0" algn="l">
              <a:buNone/>
            </a:pPr>
            <a:r>
              <a:rPr lang="en-US" sz="1200" b="1" dirty="0">
                <a:solidFill>
                  <a:srgbClr val="8E44AD"/>
                </a:solidFill>
              </a:rPr>
              <a:t>🚪  Unhappy Exits</a:t>
            </a:r>
            <a:endParaRPr lang="en-US" sz="1200" dirty="0"/>
          </a:p>
        </p:txBody>
      </p:sp>
      <p:sp>
        <p:nvSpPr>
          <p:cNvPr id="60" name="Shape 58"/>
          <p:cNvSpPr/>
          <p:nvPr/>
        </p:nvSpPr>
        <p:spPr>
          <a:xfrm>
            <a:off x="6190488" y="3657600"/>
            <a:ext cx="1234440" cy="228600"/>
          </a:xfrm>
          <a:prstGeom prst="rect">
            <a:avLst/>
          </a:prstGeom>
          <a:solidFill>
            <a:srgbClr val="8E44AD">
              <a:alpha val="25000"/>
            </a:srgbClr>
          </a:solidFill>
          <a:ln w="12700">
            <a:solidFill>
              <a:srgbClr val="8E44AD">
                <a:alpha val="40000"/>
              </a:srgbClr>
            </a:solidFill>
            <a:prstDash val="solid"/>
          </a:ln>
        </p:spPr>
        <p:txBody>
          <a:bodyPr/>
          <a:lstStyle/>
          <a:p>
            <a:endParaRPr lang="en-US"/>
          </a:p>
        </p:txBody>
      </p:sp>
      <p:sp>
        <p:nvSpPr>
          <p:cNvPr id="61" name="Text 59"/>
          <p:cNvSpPr/>
          <p:nvPr/>
        </p:nvSpPr>
        <p:spPr>
          <a:xfrm>
            <a:off x="6190488" y="3666744"/>
            <a:ext cx="1234440" cy="219456"/>
          </a:xfrm>
          <a:prstGeom prst="rect">
            <a:avLst/>
          </a:prstGeom>
          <a:noFill/>
          <a:ln/>
        </p:spPr>
        <p:txBody>
          <a:bodyPr wrap="square" rtlCol="0" anchor="ctr"/>
          <a:lstStyle/>
          <a:p>
            <a:pPr marL="0" indent="0" algn="ctr">
              <a:buNone/>
            </a:pPr>
            <a:r>
              <a:rPr lang="en-US" sz="900" dirty="0">
                <a:solidFill>
                  <a:srgbClr val="1A2B42"/>
                </a:solidFill>
              </a:rPr>
              <a:t>⏱ Varied</a:t>
            </a:r>
            <a:endParaRPr lang="en-US" sz="900" dirty="0"/>
          </a:p>
        </p:txBody>
      </p:sp>
      <p:sp>
        <p:nvSpPr>
          <p:cNvPr id="62" name="Shape 60"/>
          <p:cNvSpPr/>
          <p:nvPr/>
        </p:nvSpPr>
        <p:spPr>
          <a:xfrm>
            <a:off x="7534656" y="3657600"/>
            <a:ext cx="1234440" cy="228600"/>
          </a:xfrm>
          <a:prstGeom prst="rect">
            <a:avLst/>
          </a:prstGeom>
          <a:solidFill>
            <a:srgbClr val="8E44AD">
              <a:alpha val="25000"/>
            </a:srgbClr>
          </a:solidFill>
          <a:ln w="12700">
            <a:solidFill>
              <a:srgbClr val="8E44AD">
                <a:alpha val="40000"/>
              </a:srgbClr>
            </a:solidFill>
            <a:prstDash val="solid"/>
          </a:ln>
        </p:spPr>
        <p:txBody>
          <a:bodyPr/>
          <a:lstStyle/>
          <a:p>
            <a:endParaRPr lang="en-US"/>
          </a:p>
        </p:txBody>
      </p:sp>
      <p:sp>
        <p:nvSpPr>
          <p:cNvPr id="63" name="Text 61"/>
          <p:cNvSpPr/>
          <p:nvPr/>
        </p:nvSpPr>
        <p:spPr>
          <a:xfrm>
            <a:off x="7534656" y="3666744"/>
            <a:ext cx="1234440" cy="219456"/>
          </a:xfrm>
          <a:prstGeom prst="rect">
            <a:avLst/>
          </a:prstGeom>
          <a:noFill/>
          <a:ln/>
        </p:spPr>
        <p:txBody>
          <a:bodyPr wrap="square" rtlCol="0" anchor="ctr"/>
          <a:lstStyle/>
          <a:p>
            <a:pPr marL="0" indent="0" algn="ctr">
              <a:buNone/>
            </a:pPr>
            <a:r>
              <a:rPr lang="en-US" sz="900" dirty="0">
                <a:solidFill>
                  <a:srgbClr val="1A2B42"/>
                </a:solidFill>
              </a:rPr>
              <a:t>📊 Score: &lt; 0.5</a:t>
            </a:r>
            <a:endParaRPr lang="en-US" sz="900" dirty="0"/>
          </a:p>
        </p:txBody>
      </p:sp>
      <p:sp>
        <p:nvSpPr>
          <p:cNvPr id="64" name="Text 62"/>
          <p:cNvSpPr/>
          <p:nvPr/>
        </p:nvSpPr>
        <p:spPr>
          <a:xfrm>
            <a:off x="6190488" y="3950208"/>
            <a:ext cx="2606040" cy="594360"/>
          </a:xfrm>
          <a:prstGeom prst="rect">
            <a:avLst/>
          </a:prstGeom>
          <a:noFill/>
          <a:ln/>
        </p:spPr>
        <p:txBody>
          <a:bodyPr wrap="square" rtlCol="0" anchor="ctr"/>
          <a:lstStyle/>
          <a:p>
            <a:pPr marL="0" indent="0" algn="l">
              <a:buNone/>
            </a:pPr>
            <a:r>
              <a:rPr lang="en-US" sz="950" dirty="0">
                <a:solidFill>
                  <a:srgbClr val="4A5568"/>
                </a:solidFill>
              </a:rPr>
              <a:t>Left with unresolved frustrations. Their feedback is our most valuable lesson.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200" b="1" kern="0" spc="200" dirty="0">
                <a:solidFill>
                  <a:srgbClr val="FFFFFF"/>
                </a:solidFill>
              </a:rPr>
              <a:t>THE COST OF INACTION</a:t>
            </a:r>
            <a:endParaRPr lang="en-US" sz="2200" dirty="0"/>
          </a:p>
        </p:txBody>
      </p:sp>
      <p:sp>
        <p:nvSpPr>
          <p:cNvPr id="4" name="Text 2"/>
          <p:cNvSpPr/>
          <p:nvPr/>
        </p:nvSpPr>
        <p:spPr>
          <a:xfrm>
            <a:off x="365760" y="777240"/>
            <a:ext cx="8412480" cy="384048"/>
          </a:xfrm>
          <a:prstGeom prst="rect">
            <a:avLst/>
          </a:prstGeom>
          <a:noFill/>
          <a:ln/>
        </p:spPr>
        <p:txBody>
          <a:bodyPr wrap="square" rtlCol="0" anchor="ctr"/>
          <a:lstStyle/>
          <a:p>
            <a:pPr marL="0" indent="0" algn="ctr">
              <a:buNone/>
            </a:pPr>
            <a:r>
              <a:rPr lang="en-US" sz="1300" i="1" dirty="0">
                <a:solidFill>
                  <a:srgbClr val="4A5568"/>
                </a:solidFill>
              </a:rPr>
              <a:t>Here's what this attrition has already cost us — and what it will cost if we don't act on the groups still at risk.</a:t>
            </a:r>
            <a:endParaRPr lang="en-US" sz="1300" dirty="0"/>
          </a:p>
        </p:txBody>
      </p:sp>
      <p:pic>
        <p:nvPicPr>
          <p:cNvPr id="5" name="Image 0" descr="preencoded.png"/>
          <p:cNvPicPr>
            <a:picLocks noChangeAspect="1"/>
          </p:cNvPicPr>
          <p:nvPr/>
        </p:nvPicPr>
        <p:blipFill>
          <a:blip r:embed="rId3"/>
          <a:stretch>
            <a:fillRect/>
          </a:stretch>
        </p:blipFill>
        <p:spPr>
          <a:xfrm>
            <a:off x="1176793" y="1234440"/>
            <a:ext cx="6790414" cy="3246120"/>
          </a:xfrm>
          <a:prstGeom prst="rect">
            <a:avLst/>
          </a:prstGeom>
        </p:spPr>
      </p:pic>
      <p:sp>
        <p:nvSpPr>
          <p:cNvPr id="6" name="Shape 3"/>
          <p:cNvSpPr/>
          <p:nvPr/>
        </p:nvSpPr>
        <p:spPr>
          <a:xfrm>
            <a:off x="411480" y="4581144"/>
            <a:ext cx="8412480" cy="502920"/>
          </a:xfrm>
          <a:prstGeom prst="rect">
            <a:avLst/>
          </a:prstGeom>
          <a:solidFill>
            <a:srgbClr val="FEF3E2"/>
          </a:solidFill>
          <a:ln w="12700">
            <a:solidFill>
              <a:srgbClr val="F5A623">
                <a:alpha val="40000"/>
              </a:srgbClr>
            </a:solidFill>
            <a:prstDash val="solid"/>
          </a:ln>
        </p:spPr>
        <p:txBody>
          <a:bodyPr/>
          <a:lstStyle/>
          <a:p>
            <a:endParaRPr lang="en-US"/>
          </a:p>
        </p:txBody>
      </p:sp>
      <p:sp>
        <p:nvSpPr>
          <p:cNvPr id="7" name="Text 4"/>
          <p:cNvSpPr/>
          <p:nvPr/>
        </p:nvSpPr>
        <p:spPr>
          <a:xfrm>
            <a:off x="502920" y="4581144"/>
            <a:ext cx="8229600" cy="438912"/>
          </a:xfrm>
          <a:prstGeom prst="rect">
            <a:avLst/>
          </a:prstGeom>
          <a:noFill/>
          <a:ln/>
        </p:spPr>
        <p:txBody>
          <a:bodyPr wrap="square" rtlCol="0" anchor="ctr"/>
          <a:lstStyle/>
          <a:p>
            <a:pPr marL="0" indent="0">
              <a:buNone/>
            </a:pPr>
            <a:r>
              <a:rPr lang="en-US" sz="1050" i="1" dirty="0">
                <a:solidFill>
                  <a:srgbClr val="1E3A5F"/>
                </a:solidFill>
              </a:rPr>
              <a:t>💬  Each replacement costs ~$36K. The $335.8M total reflects 9,327 employees across lost and at-risk groups. Retaining just 20% of at-risk employees saves ~$16.5M.</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A5298"/>
          </a:solidFill>
          <a:ln w="12700">
            <a:solidFill>
              <a:srgbClr val="2A5298"/>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200" b="1" kern="0" spc="200" dirty="0">
                <a:solidFill>
                  <a:srgbClr val="FFFFFF"/>
                </a:solidFill>
              </a:rPr>
              <a:t>RISK BY DEPARTMENT</a:t>
            </a:r>
            <a:endParaRPr lang="en-US" sz="2200" dirty="0"/>
          </a:p>
        </p:txBody>
      </p:sp>
      <p:sp>
        <p:nvSpPr>
          <p:cNvPr id="4" name="Text 2"/>
          <p:cNvSpPr/>
          <p:nvPr/>
        </p:nvSpPr>
        <p:spPr>
          <a:xfrm>
            <a:off x="365760" y="777240"/>
            <a:ext cx="8412480" cy="347472"/>
          </a:xfrm>
          <a:prstGeom prst="rect">
            <a:avLst/>
          </a:prstGeom>
          <a:noFill/>
          <a:ln/>
        </p:spPr>
        <p:txBody>
          <a:bodyPr wrap="square" rtlCol="0" anchor="ctr"/>
          <a:lstStyle/>
          <a:p>
            <a:pPr marL="0" indent="0" algn="ctr">
              <a:buNone/>
            </a:pPr>
            <a:r>
              <a:rPr lang="en-US" sz="1300" i="1" dirty="0">
                <a:solidFill>
                  <a:srgbClr val="4A5568"/>
                </a:solidFill>
              </a:rPr>
              <a:t>Every department is represented across all 6 clusters. No team is isolated from these trends.</a:t>
            </a:r>
            <a:endParaRPr lang="en-US" sz="1300" dirty="0"/>
          </a:p>
        </p:txBody>
      </p:sp>
      <p:pic>
        <p:nvPicPr>
          <p:cNvPr id="5" name="Image 0" descr="preencoded.png"/>
          <p:cNvPicPr>
            <a:picLocks noChangeAspect="1"/>
          </p:cNvPicPr>
          <p:nvPr/>
        </p:nvPicPr>
        <p:blipFill>
          <a:blip r:embed="rId3"/>
          <a:stretch>
            <a:fillRect/>
          </a:stretch>
        </p:blipFill>
        <p:spPr>
          <a:xfrm>
            <a:off x="870668" y="1197864"/>
            <a:ext cx="7402664" cy="2926080"/>
          </a:xfrm>
          <a:prstGeom prst="rect">
            <a:avLst/>
          </a:prstGeom>
        </p:spPr>
      </p:pic>
      <p:sp>
        <p:nvSpPr>
          <p:cNvPr id="6" name="Shape 3"/>
          <p:cNvSpPr/>
          <p:nvPr/>
        </p:nvSpPr>
        <p:spPr>
          <a:xfrm>
            <a:off x="365760" y="4206240"/>
            <a:ext cx="8412480" cy="822960"/>
          </a:xfrm>
          <a:prstGeom prst="rect">
            <a:avLst/>
          </a:prstGeom>
          <a:solidFill>
            <a:srgbClr val="FFFFFF"/>
          </a:solidFill>
          <a:ln w="12700">
            <a:solidFill>
              <a:srgbClr val="2A5298">
                <a:alpha val="3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7" name="Text 4"/>
          <p:cNvSpPr/>
          <p:nvPr/>
        </p:nvSpPr>
        <p:spPr>
          <a:xfrm>
            <a:off x="502920" y="4279392"/>
            <a:ext cx="8229600" cy="694944"/>
          </a:xfrm>
          <a:prstGeom prst="rect">
            <a:avLst/>
          </a:prstGeom>
          <a:noFill/>
          <a:ln/>
        </p:spPr>
        <p:txBody>
          <a:bodyPr wrap="square" rtlCol="0" anchor="ctr"/>
          <a:lstStyle/>
          <a:p>
            <a:pPr marL="0" indent="0">
              <a:buNone/>
            </a:pPr>
            <a:r>
              <a:rPr lang="en-US" sz="1050" dirty="0">
                <a:solidFill>
                  <a:srgbClr val="4A5568"/>
                </a:solidFill>
              </a:rPr>
              <a:t>💬  Technology has the highest Long Tenure Risk (555) and the largest Happy Departures (1,211) — a department with both wins and warnings.</a:t>
            </a:r>
            <a:endParaRPr lang="en-US" sz="1050" dirty="0"/>
          </a:p>
          <a:p>
            <a:pPr marL="0" indent="0">
              <a:buNone/>
            </a:pPr>
            <a:r>
              <a:rPr lang="en-US" sz="1050" dirty="0">
                <a:solidFill>
                  <a:srgbClr val="4A5568"/>
                </a:solidFill>
              </a:rPr>
              <a:t>💬  Healthcare leads in Safe Zone employees (878), showing that some of our strongest culture exists there — let's learn from it.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000" b="1" kern="0" spc="100" dirty="0">
                <a:solidFill>
                  <a:srgbClr val="FFFFFF"/>
                </a:solidFill>
              </a:rPr>
              <a:t>⚠️  LONG TENURE RISK — DEEP DIVE</a:t>
            </a:r>
            <a:endParaRPr lang="en-US" sz="2000" dirty="0"/>
          </a:p>
        </p:txBody>
      </p:sp>
      <p:sp>
        <p:nvSpPr>
          <p:cNvPr id="4" name="Text 2"/>
          <p:cNvSpPr/>
          <p:nvPr/>
        </p:nvSpPr>
        <p:spPr>
          <a:xfrm>
            <a:off x="365760" y="777240"/>
            <a:ext cx="8412480" cy="502920"/>
          </a:xfrm>
          <a:prstGeom prst="rect">
            <a:avLst/>
          </a:prstGeom>
          <a:noFill/>
          <a:ln/>
        </p:spPr>
        <p:txBody>
          <a:bodyPr wrap="square" rtlCol="0" anchor="ctr"/>
          <a:lstStyle/>
          <a:p>
            <a:pPr marL="0" indent="0">
              <a:buNone/>
            </a:pPr>
            <a:r>
              <a:rPr lang="en-US" sz="1300" i="1" dirty="0">
                <a:solidFill>
                  <a:srgbClr val="4A5568"/>
                </a:solidFill>
              </a:rPr>
              <a:t>These are the people who built this company. They've been here 3+ years, they carry deep institutional knowledge — and right now, their satisfaction scores say they're at risk.</a:t>
            </a:r>
            <a:endParaRPr lang="en-US" sz="1300" dirty="0"/>
          </a:p>
        </p:txBody>
      </p:sp>
      <p:pic>
        <p:nvPicPr>
          <p:cNvPr id="5" name="Image 0" descr="preencoded.png"/>
          <p:cNvPicPr>
            <a:picLocks noChangeAspect="1"/>
          </p:cNvPicPr>
          <p:nvPr/>
        </p:nvPicPr>
        <p:blipFill>
          <a:blip r:embed="rId3"/>
          <a:stretch>
            <a:fillRect/>
          </a:stretch>
        </p:blipFill>
        <p:spPr>
          <a:xfrm>
            <a:off x="365760" y="1371600"/>
            <a:ext cx="5029200" cy="2377440"/>
          </a:xfrm>
          <a:prstGeom prst="rect">
            <a:avLst/>
          </a:prstGeom>
        </p:spPr>
      </p:pic>
      <p:sp>
        <p:nvSpPr>
          <p:cNvPr id="6" name="Shape 3"/>
          <p:cNvSpPr/>
          <p:nvPr/>
        </p:nvSpPr>
        <p:spPr>
          <a:xfrm>
            <a:off x="5577840" y="1371600"/>
            <a:ext cx="3200400" cy="2377440"/>
          </a:xfrm>
          <a:prstGeom prst="rect">
            <a:avLst/>
          </a:prstGeom>
          <a:solidFill>
            <a:srgbClr val="FEF3E2"/>
          </a:solidFill>
          <a:ln w="12700">
            <a:solidFill>
              <a:srgbClr val="F5A623">
                <a:alpha val="4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7" name="Text 4"/>
          <p:cNvSpPr/>
          <p:nvPr/>
        </p:nvSpPr>
        <p:spPr>
          <a:xfrm>
            <a:off x="5669280" y="1463040"/>
            <a:ext cx="3017520" cy="320040"/>
          </a:xfrm>
          <a:prstGeom prst="rect">
            <a:avLst/>
          </a:prstGeom>
          <a:noFill/>
          <a:ln/>
        </p:spPr>
        <p:txBody>
          <a:bodyPr wrap="square" rtlCol="0" anchor="ctr"/>
          <a:lstStyle/>
          <a:p>
            <a:pPr marL="0" indent="0">
              <a:buNone/>
            </a:pPr>
            <a:r>
              <a:rPr lang="en-US" sz="1200" b="1" dirty="0">
                <a:solidFill>
                  <a:srgbClr val="1E3A5F"/>
                </a:solidFill>
              </a:rPr>
              <a:t>What This Tells Us</a:t>
            </a:r>
            <a:endParaRPr lang="en-US" sz="1200" dirty="0"/>
          </a:p>
        </p:txBody>
      </p:sp>
      <p:sp>
        <p:nvSpPr>
          <p:cNvPr id="8" name="Text 5"/>
          <p:cNvSpPr/>
          <p:nvPr/>
        </p:nvSpPr>
        <p:spPr>
          <a:xfrm>
            <a:off x="5669280" y="1874520"/>
            <a:ext cx="2926080" cy="384048"/>
          </a:xfrm>
          <a:prstGeom prst="rect">
            <a:avLst/>
          </a:prstGeom>
          <a:noFill/>
          <a:ln/>
        </p:spPr>
        <p:txBody>
          <a:bodyPr wrap="square" rtlCol="0" anchor="ctr"/>
          <a:lstStyle/>
          <a:p>
            <a:pPr marL="0" indent="0">
              <a:buNone/>
            </a:pPr>
            <a:r>
              <a:rPr lang="en-US" sz="1100" dirty="0">
                <a:solidFill>
                  <a:srgbClr val="1A2B42"/>
                </a:solidFill>
              </a:rPr>
              <a:t>🏆  53.7% have been here 15+ years</a:t>
            </a:r>
            <a:endParaRPr lang="en-US" sz="1100" dirty="0"/>
          </a:p>
        </p:txBody>
      </p:sp>
      <p:sp>
        <p:nvSpPr>
          <p:cNvPr id="9" name="Text 6"/>
          <p:cNvSpPr/>
          <p:nvPr/>
        </p:nvSpPr>
        <p:spPr>
          <a:xfrm>
            <a:off x="5669280" y="2313432"/>
            <a:ext cx="2926080" cy="384048"/>
          </a:xfrm>
          <a:prstGeom prst="rect">
            <a:avLst/>
          </a:prstGeom>
          <a:noFill/>
          <a:ln/>
        </p:spPr>
        <p:txBody>
          <a:bodyPr wrap="square" rtlCol="0" anchor="ctr"/>
          <a:lstStyle/>
          <a:p>
            <a:pPr marL="0" indent="0">
              <a:buNone/>
            </a:pPr>
            <a:r>
              <a:rPr lang="en-US" sz="1100" dirty="0">
                <a:solidFill>
                  <a:srgbClr val="1A2B42"/>
                </a:solidFill>
              </a:rPr>
              <a:t>📉  2,118 employees at risk of leaving</a:t>
            </a:r>
            <a:endParaRPr lang="en-US" sz="1100" dirty="0"/>
          </a:p>
        </p:txBody>
      </p:sp>
      <p:sp>
        <p:nvSpPr>
          <p:cNvPr id="10" name="Text 7"/>
          <p:cNvSpPr/>
          <p:nvPr/>
        </p:nvSpPr>
        <p:spPr>
          <a:xfrm>
            <a:off x="5669280" y="2752344"/>
            <a:ext cx="2926080" cy="384048"/>
          </a:xfrm>
          <a:prstGeom prst="rect">
            <a:avLst/>
          </a:prstGeom>
          <a:noFill/>
          <a:ln/>
        </p:spPr>
        <p:txBody>
          <a:bodyPr wrap="square" rtlCol="0" anchor="ctr"/>
          <a:lstStyle/>
          <a:p>
            <a:pPr marL="0" indent="0">
              <a:buNone/>
            </a:pPr>
            <a:r>
              <a:rPr lang="en-US" sz="1100" dirty="0">
                <a:solidFill>
                  <a:srgbClr val="1A2B42"/>
                </a:solidFill>
              </a:rPr>
              <a:t>💰  Estimated cost if lost: $76.2M</a:t>
            </a:r>
            <a:endParaRPr lang="en-US" sz="1100" dirty="0"/>
          </a:p>
        </p:txBody>
      </p:sp>
      <p:sp>
        <p:nvSpPr>
          <p:cNvPr id="11" name="Text 8"/>
          <p:cNvSpPr/>
          <p:nvPr/>
        </p:nvSpPr>
        <p:spPr>
          <a:xfrm>
            <a:off x="5669280" y="3191256"/>
            <a:ext cx="2926080" cy="384048"/>
          </a:xfrm>
          <a:prstGeom prst="rect">
            <a:avLst/>
          </a:prstGeom>
          <a:noFill/>
          <a:ln/>
        </p:spPr>
        <p:txBody>
          <a:bodyPr wrap="square" rtlCol="0" anchor="ctr"/>
          <a:lstStyle/>
          <a:p>
            <a:pPr marL="0" indent="0">
              <a:buNone/>
            </a:pPr>
            <a:r>
              <a:rPr lang="en-US" sz="1100" dirty="0">
                <a:solidFill>
                  <a:srgbClr val="1A2B42"/>
                </a:solidFill>
              </a:rPr>
              <a:t>🎯  Sentiment score: below 0.5 — the danger zone</a:t>
            </a:r>
            <a:endParaRPr lang="en-US" sz="1100" dirty="0"/>
          </a:p>
        </p:txBody>
      </p:sp>
      <p:sp>
        <p:nvSpPr>
          <p:cNvPr id="12" name="Shape 9"/>
          <p:cNvSpPr/>
          <p:nvPr/>
        </p:nvSpPr>
        <p:spPr>
          <a:xfrm>
            <a:off x="365760" y="3886200"/>
            <a:ext cx="8412480" cy="1005840"/>
          </a:xfrm>
          <a:prstGeom prst="rect">
            <a:avLst/>
          </a:prstGeom>
          <a:solidFill>
            <a:srgbClr val="FFFFFF"/>
          </a:solidFill>
          <a:ln w="12700">
            <a:solidFill>
              <a:srgbClr val="F5A623">
                <a:alpha val="4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3" name="Text 10"/>
          <p:cNvSpPr/>
          <p:nvPr/>
        </p:nvSpPr>
        <p:spPr>
          <a:xfrm>
            <a:off x="502920" y="3950208"/>
            <a:ext cx="8229600" cy="274320"/>
          </a:xfrm>
          <a:prstGeom prst="rect">
            <a:avLst/>
          </a:prstGeom>
          <a:noFill/>
          <a:ln/>
        </p:spPr>
        <p:txBody>
          <a:bodyPr wrap="square" rtlCol="0" anchor="ctr"/>
          <a:lstStyle/>
          <a:p>
            <a:pPr marL="0" indent="0">
              <a:buNone/>
            </a:pPr>
            <a:r>
              <a:rPr lang="en-US" sz="1100" b="1" dirty="0">
                <a:solidFill>
                  <a:srgbClr val="F5A623"/>
                </a:solidFill>
              </a:rPr>
              <a:t>💬  Key Points</a:t>
            </a:r>
            <a:endParaRPr lang="en-US" sz="1100" dirty="0"/>
          </a:p>
        </p:txBody>
      </p:sp>
      <p:sp>
        <p:nvSpPr>
          <p:cNvPr id="14" name="Text 11"/>
          <p:cNvSpPr/>
          <p:nvPr/>
        </p:nvSpPr>
        <p:spPr>
          <a:xfrm>
            <a:off x="502920" y="4251960"/>
            <a:ext cx="8229600" cy="594360"/>
          </a:xfrm>
          <a:prstGeom prst="rect">
            <a:avLst/>
          </a:prstGeom>
          <a:noFill/>
          <a:ln/>
        </p:spPr>
        <p:txBody>
          <a:bodyPr wrap="square" rtlCol="0" anchor="ctr"/>
          <a:lstStyle/>
          <a:p>
            <a:pPr marL="0" indent="0">
              <a:buNone/>
            </a:pPr>
            <a:r>
              <a:rPr lang="en-US" sz="1100" dirty="0">
                <a:solidFill>
                  <a:srgbClr val="4A5568"/>
                </a:solidFill>
              </a:rPr>
              <a:t>→  Losing a tenure employee doesn't just cost money — it costs memory, mentorship, and morale.</a:t>
            </a:r>
            <a:endParaRPr lang="en-US" sz="1100" dirty="0"/>
          </a:p>
          <a:p>
            <a:pPr marL="0" indent="0">
              <a:buNone/>
            </a:pPr>
            <a:r>
              <a:rPr lang="en-US" sz="1100" dirty="0">
                <a:solidFill>
                  <a:srgbClr val="4A5568"/>
                </a:solidFill>
              </a:rPr>
              <a:t>→  The good news: they're still here. That means we have a window to act — and we intend to use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A5298"/>
          </a:solidFill>
          <a:ln w="12700">
            <a:solidFill>
              <a:srgbClr val="2A5298"/>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200" b="1" kern="0" spc="200" dirty="0">
                <a:solidFill>
                  <a:srgbClr val="FFFFFF"/>
                </a:solidFill>
              </a:rPr>
              <a:t>WHERE ARE THE HOT SPOTS?</a:t>
            </a:r>
            <a:endParaRPr lang="en-US" sz="2200" dirty="0"/>
          </a:p>
        </p:txBody>
      </p:sp>
      <p:sp>
        <p:nvSpPr>
          <p:cNvPr id="4" name="Text 2"/>
          <p:cNvSpPr/>
          <p:nvPr/>
        </p:nvSpPr>
        <p:spPr>
          <a:xfrm>
            <a:off x="365760" y="777240"/>
            <a:ext cx="8412480" cy="402336"/>
          </a:xfrm>
          <a:prstGeom prst="rect">
            <a:avLst/>
          </a:prstGeom>
          <a:noFill/>
          <a:ln/>
        </p:spPr>
        <p:txBody>
          <a:bodyPr wrap="square" rtlCol="0" anchor="ctr"/>
          <a:lstStyle/>
          <a:p>
            <a:pPr marL="0" indent="0">
              <a:buNone/>
            </a:pPr>
            <a:r>
              <a:rPr lang="en-US" sz="1300" i="1" dirty="0">
                <a:solidFill>
                  <a:srgbClr val="4A5568"/>
                </a:solidFill>
              </a:rPr>
              <a:t>This map shows sentiment vs. attrition across all departments. The further left and higher up a bubble sits, the more urgent the action needed.</a:t>
            </a:r>
            <a:endParaRPr lang="en-US" sz="1300" dirty="0"/>
          </a:p>
        </p:txBody>
      </p:sp>
      <p:pic>
        <p:nvPicPr>
          <p:cNvPr id="5" name="Image 0" descr="preencoded.png"/>
          <p:cNvPicPr>
            <a:picLocks noChangeAspect="1"/>
          </p:cNvPicPr>
          <p:nvPr/>
        </p:nvPicPr>
        <p:blipFill>
          <a:blip r:embed="rId3"/>
          <a:stretch>
            <a:fillRect/>
          </a:stretch>
        </p:blipFill>
        <p:spPr>
          <a:xfrm>
            <a:off x="640080" y="1179576"/>
            <a:ext cx="4854271" cy="3008376"/>
          </a:xfrm>
          <a:prstGeom prst="rect">
            <a:avLst/>
          </a:prstGeom>
        </p:spPr>
      </p:pic>
      <p:sp>
        <p:nvSpPr>
          <p:cNvPr id="6" name="Shape 3"/>
          <p:cNvSpPr/>
          <p:nvPr/>
        </p:nvSpPr>
        <p:spPr>
          <a:xfrm>
            <a:off x="6035040" y="1280160"/>
            <a:ext cx="2743200" cy="868680"/>
          </a:xfrm>
          <a:prstGeom prst="rect">
            <a:avLst/>
          </a:prstGeom>
          <a:solidFill>
            <a:srgbClr val="FFFFFF"/>
          </a:solidFill>
          <a:ln w="12700">
            <a:solidFill>
              <a:srgbClr val="E74C3C">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7" name="Shape 4"/>
          <p:cNvSpPr/>
          <p:nvPr/>
        </p:nvSpPr>
        <p:spPr>
          <a:xfrm>
            <a:off x="6035040" y="1280160"/>
            <a:ext cx="109728" cy="868680"/>
          </a:xfrm>
          <a:prstGeom prst="rect">
            <a:avLst/>
          </a:prstGeom>
          <a:solidFill>
            <a:srgbClr val="E74C3C"/>
          </a:solidFill>
          <a:ln w="12700">
            <a:solidFill>
              <a:srgbClr val="E74C3C"/>
            </a:solidFill>
            <a:prstDash val="solid"/>
          </a:ln>
        </p:spPr>
        <p:txBody>
          <a:bodyPr/>
          <a:lstStyle/>
          <a:p>
            <a:endParaRPr lang="en-US"/>
          </a:p>
        </p:txBody>
      </p:sp>
      <p:sp>
        <p:nvSpPr>
          <p:cNvPr id="8" name="Text 5"/>
          <p:cNvSpPr/>
          <p:nvPr/>
        </p:nvSpPr>
        <p:spPr>
          <a:xfrm>
            <a:off x="6217920" y="1316736"/>
            <a:ext cx="2468880" cy="256032"/>
          </a:xfrm>
          <a:prstGeom prst="rect">
            <a:avLst/>
          </a:prstGeom>
          <a:noFill/>
          <a:ln/>
        </p:spPr>
        <p:txBody>
          <a:bodyPr wrap="square" rtlCol="0" anchor="ctr"/>
          <a:lstStyle/>
          <a:p>
            <a:pPr marL="0" indent="0">
              <a:buNone/>
            </a:pPr>
            <a:r>
              <a:rPr lang="en-US" sz="1200" b="1" dirty="0">
                <a:solidFill>
                  <a:srgbClr val="E74C3C"/>
                </a:solidFill>
              </a:rPr>
              <a:t>Media</a:t>
            </a:r>
            <a:endParaRPr lang="en-US" sz="1200" dirty="0"/>
          </a:p>
        </p:txBody>
      </p:sp>
      <p:sp>
        <p:nvSpPr>
          <p:cNvPr id="9" name="Text 6"/>
          <p:cNvSpPr/>
          <p:nvPr/>
        </p:nvSpPr>
        <p:spPr>
          <a:xfrm>
            <a:off x="6217920" y="1572768"/>
            <a:ext cx="2468880" cy="502920"/>
          </a:xfrm>
          <a:prstGeom prst="rect">
            <a:avLst/>
          </a:prstGeom>
          <a:noFill/>
          <a:ln/>
        </p:spPr>
        <p:txBody>
          <a:bodyPr wrap="square" rtlCol="0" anchor="ctr"/>
          <a:lstStyle/>
          <a:p>
            <a:pPr marL="0" indent="0">
              <a:buNone/>
            </a:pPr>
            <a:r>
              <a:rPr lang="en-US" sz="1000" dirty="0">
                <a:solidFill>
                  <a:srgbClr val="4A5568"/>
                </a:solidFill>
              </a:rPr>
              <a:t>Highest attrition (55.5%) + lowest sentiment — needs immediate attention</a:t>
            </a:r>
            <a:endParaRPr lang="en-US" sz="1000" dirty="0"/>
          </a:p>
        </p:txBody>
      </p:sp>
      <p:sp>
        <p:nvSpPr>
          <p:cNvPr id="10" name="Shape 7"/>
          <p:cNvSpPr/>
          <p:nvPr/>
        </p:nvSpPr>
        <p:spPr>
          <a:xfrm>
            <a:off x="6035040" y="2286000"/>
            <a:ext cx="2743200" cy="868680"/>
          </a:xfrm>
          <a:prstGeom prst="rect">
            <a:avLst/>
          </a:prstGeom>
          <a:solidFill>
            <a:srgbClr val="FFFFFF"/>
          </a:solidFill>
          <a:ln w="12700">
            <a:solidFill>
              <a:srgbClr val="F5A623">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1" name="Shape 8"/>
          <p:cNvSpPr/>
          <p:nvPr/>
        </p:nvSpPr>
        <p:spPr>
          <a:xfrm>
            <a:off x="6035040" y="2286000"/>
            <a:ext cx="109728" cy="868680"/>
          </a:xfrm>
          <a:prstGeom prst="rect">
            <a:avLst/>
          </a:prstGeom>
          <a:solidFill>
            <a:srgbClr val="F5A623"/>
          </a:solidFill>
          <a:ln w="12700">
            <a:solidFill>
              <a:srgbClr val="F5A623"/>
            </a:solidFill>
            <a:prstDash val="solid"/>
          </a:ln>
        </p:spPr>
        <p:txBody>
          <a:bodyPr/>
          <a:lstStyle/>
          <a:p>
            <a:endParaRPr lang="en-US"/>
          </a:p>
        </p:txBody>
      </p:sp>
      <p:sp>
        <p:nvSpPr>
          <p:cNvPr id="12" name="Text 9"/>
          <p:cNvSpPr/>
          <p:nvPr/>
        </p:nvSpPr>
        <p:spPr>
          <a:xfrm>
            <a:off x="6217920" y="2322576"/>
            <a:ext cx="2468880" cy="256032"/>
          </a:xfrm>
          <a:prstGeom prst="rect">
            <a:avLst/>
          </a:prstGeom>
          <a:noFill/>
          <a:ln/>
        </p:spPr>
        <p:txBody>
          <a:bodyPr wrap="square" rtlCol="0" anchor="ctr"/>
          <a:lstStyle/>
          <a:p>
            <a:pPr marL="0" indent="0">
              <a:buNone/>
            </a:pPr>
            <a:r>
              <a:rPr lang="en-US" sz="1200" b="1" dirty="0">
                <a:solidFill>
                  <a:srgbClr val="F5A623"/>
                </a:solidFill>
              </a:rPr>
              <a:t>Technology</a:t>
            </a:r>
            <a:endParaRPr lang="en-US" sz="1200" dirty="0"/>
          </a:p>
        </p:txBody>
      </p:sp>
      <p:sp>
        <p:nvSpPr>
          <p:cNvPr id="13" name="Text 10"/>
          <p:cNvSpPr/>
          <p:nvPr/>
        </p:nvSpPr>
        <p:spPr>
          <a:xfrm>
            <a:off x="6217920" y="2578608"/>
            <a:ext cx="2468880" cy="502920"/>
          </a:xfrm>
          <a:prstGeom prst="rect">
            <a:avLst/>
          </a:prstGeom>
          <a:noFill/>
          <a:ln/>
        </p:spPr>
        <p:txBody>
          <a:bodyPr wrap="square" rtlCol="0" anchor="ctr"/>
          <a:lstStyle/>
          <a:p>
            <a:pPr marL="0" indent="0">
              <a:buNone/>
            </a:pPr>
            <a:r>
              <a:rPr lang="en-US" sz="1000" dirty="0">
                <a:solidFill>
                  <a:srgbClr val="4A5568"/>
                </a:solidFill>
              </a:rPr>
              <a:t>High attrition despite higher sentiment — review growth paths</a:t>
            </a:r>
            <a:endParaRPr lang="en-US" sz="1000" dirty="0"/>
          </a:p>
        </p:txBody>
      </p:sp>
      <p:sp>
        <p:nvSpPr>
          <p:cNvPr id="14" name="Shape 11"/>
          <p:cNvSpPr/>
          <p:nvPr/>
        </p:nvSpPr>
        <p:spPr>
          <a:xfrm>
            <a:off x="6035040" y="3291840"/>
            <a:ext cx="2743200" cy="868680"/>
          </a:xfrm>
          <a:prstGeom prst="rect">
            <a:avLst/>
          </a:prstGeom>
          <a:solidFill>
            <a:srgbClr val="FFFFFF"/>
          </a:solidFill>
          <a:ln w="12700">
            <a:solidFill>
              <a:srgbClr val="16A085">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5" name="Shape 12"/>
          <p:cNvSpPr/>
          <p:nvPr/>
        </p:nvSpPr>
        <p:spPr>
          <a:xfrm>
            <a:off x="6035040" y="3291840"/>
            <a:ext cx="109728" cy="868680"/>
          </a:xfrm>
          <a:prstGeom prst="rect">
            <a:avLst/>
          </a:prstGeom>
          <a:solidFill>
            <a:srgbClr val="16A085"/>
          </a:solidFill>
          <a:ln w="12700">
            <a:solidFill>
              <a:srgbClr val="16A085"/>
            </a:solidFill>
            <a:prstDash val="solid"/>
          </a:ln>
        </p:spPr>
        <p:txBody>
          <a:bodyPr/>
          <a:lstStyle/>
          <a:p>
            <a:endParaRPr lang="en-US"/>
          </a:p>
        </p:txBody>
      </p:sp>
      <p:sp>
        <p:nvSpPr>
          <p:cNvPr id="16" name="Text 13"/>
          <p:cNvSpPr/>
          <p:nvPr/>
        </p:nvSpPr>
        <p:spPr>
          <a:xfrm>
            <a:off x="6217920" y="3328416"/>
            <a:ext cx="2468880" cy="256032"/>
          </a:xfrm>
          <a:prstGeom prst="rect">
            <a:avLst/>
          </a:prstGeom>
          <a:noFill/>
          <a:ln/>
        </p:spPr>
        <p:txBody>
          <a:bodyPr wrap="square" rtlCol="0" anchor="ctr"/>
          <a:lstStyle/>
          <a:p>
            <a:pPr marL="0" indent="0">
              <a:buNone/>
            </a:pPr>
            <a:r>
              <a:rPr lang="en-US" sz="1200" b="1" dirty="0">
                <a:solidFill>
                  <a:srgbClr val="16A085"/>
                </a:solidFill>
              </a:rPr>
              <a:t>Healthcare</a:t>
            </a:r>
            <a:endParaRPr lang="en-US" sz="1200" dirty="0"/>
          </a:p>
        </p:txBody>
      </p:sp>
      <p:sp>
        <p:nvSpPr>
          <p:cNvPr id="17" name="Text 14"/>
          <p:cNvSpPr/>
          <p:nvPr/>
        </p:nvSpPr>
        <p:spPr>
          <a:xfrm>
            <a:off x="6217920" y="3584448"/>
            <a:ext cx="2468880" cy="502920"/>
          </a:xfrm>
          <a:prstGeom prst="rect">
            <a:avLst/>
          </a:prstGeom>
          <a:noFill/>
          <a:ln/>
        </p:spPr>
        <p:txBody>
          <a:bodyPr wrap="square" rtlCol="0" anchor="ctr"/>
          <a:lstStyle/>
          <a:p>
            <a:pPr marL="0" indent="0">
              <a:buNone/>
            </a:pPr>
            <a:r>
              <a:rPr lang="en-US" sz="1000" dirty="0">
                <a:solidFill>
                  <a:srgbClr val="4A5568"/>
                </a:solidFill>
              </a:rPr>
              <a:t>Close to Education — both near median sentiment, room to grow</a:t>
            </a:r>
            <a:endParaRPr lang="en-US" sz="1000" dirty="0"/>
          </a:p>
        </p:txBody>
      </p:sp>
      <p:sp>
        <p:nvSpPr>
          <p:cNvPr id="18" name="Shape 15"/>
          <p:cNvSpPr/>
          <p:nvPr/>
        </p:nvSpPr>
        <p:spPr>
          <a:xfrm>
            <a:off x="365760" y="4297680"/>
            <a:ext cx="8412480" cy="658368"/>
          </a:xfrm>
          <a:prstGeom prst="rect">
            <a:avLst/>
          </a:prstGeom>
          <a:solidFill>
            <a:srgbClr val="EBF5FB"/>
          </a:solidFill>
          <a:ln w="12700">
            <a:solidFill>
              <a:srgbClr val="2A5298">
                <a:alpha val="30000"/>
              </a:srgbClr>
            </a:solidFill>
            <a:prstDash val="solid"/>
          </a:ln>
        </p:spPr>
        <p:txBody>
          <a:bodyPr/>
          <a:lstStyle/>
          <a:p>
            <a:endParaRPr lang="en-US"/>
          </a:p>
        </p:txBody>
      </p:sp>
      <p:sp>
        <p:nvSpPr>
          <p:cNvPr id="19" name="Text 16"/>
          <p:cNvSpPr/>
          <p:nvPr/>
        </p:nvSpPr>
        <p:spPr>
          <a:xfrm>
            <a:off x="502920" y="4361688"/>
            <a:ext cx="8229600" cy="548640"/>
          </a:xfrm>
          <a:prstGeom prst="rect">
            <a:avLst/>
          </a:prstGeom>
          <a:noFill/>
          <a:ln/>
        </p:spPr>
        <p:txBody>
          <a:bodyPr wrap="square" rtlCol="0" anchor="ctr"/>
          <a:lstStyle/>
          <a:p>
            <a:pPr marL="0" indent="0">
              <a:buNone/>
            </a:pPr>
            <a:r>
              <a:rPr lang="en-US" sz="1100" i="1" dirty="0">
                <a:solidFill>
                  <a:srgbClr val="1E3A5F"/>
                </a:solidFill>
              </a:rPr>
              <a:t>💬  Bubble size = headcount. A department in the top-left corner = high attrition AND low sentiment. That's where we start. Media, we see you — and we've got a plan.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000" b="1" kern="0" spc="100" dirty="0">
                <a:solidFill>
                  <a:srgbClr val="FFFFFF"/>
                </a:solidFill>
              </a:rPr>
              <a:t>WHY ARE THEY LEAVING?  —  KEY DRIVERS</a:t>
            </a:r>
            <a:endParaRPr lang="en-US" sz="2000" dirty="0"/>
          </a:p>
        </p:txBody>
      </p:sp>
      <p:sp>
        <p:nvSpPr>
          <p:cNvPr id="4" name="Text 2"/>
          <p:cNvSpPr/>
          <p:nvPr/>
        </p:nvSpPr>
        <p:spPr>
          <a:xfrm>
            <a:off x="218659" y="653895"/>
            <a:ext cx="8412480" cy="347472"/>
          </a:xfrm>
          <a:prstGeom prst="rect">
            <a:avLst/>
          </a:prstGeom>
          <a:noFill/>
          <a:ln/>
        </p:spPr>
        <p:txBody>
          <a:bodyPr wrap="square" rtlCol="0" anchor="ctr"/>
          <a:lstStyle/>
          <a:p>
            <a:pPr marL="0" indent="0" algn="ctr">
              <a:buNone/>
            </a:pPr>
            <a:r>
              <a:rPr lang="en-US" sz="1200" i="1" dirty="0">
                <a:solidFill>
                  <a:srgbClr val="4A5568"/>
                </a:solidFill>
              </a:rPr>
              <a:t>The heatmap below shows which issues are most intense for each group. Darker red = more employees affected.</a:t>
            </a:r>
            <a:endParaRPr lang="en-US" sz="1200" dirty="0"/>
          </a:p>
        </p:txBody>
      </p:sp>
      <p:pic>
        <p:nvPicPr>
          <p:cNvPr id="5" name="Image 0" descr="preencoded.png"/>
          <p:cNvPicPr>
            <a:picLocks noChangeAspect="1"/>
          </p:cNvPicPr>
          <p:nvPr/>
        </p:nvPicPr>
        <p:blipFill>
          <a:blip r:embed="rId3"/>
          <a:stretch>
            <a:fillRect/>
          </a:stretch>
        </p:blipFill>
        <p:spPr>
          <a:xfrm>
            <a:off x="906447" y="898497"/>
            <a:ext cx="7036905" cy="3522627"/>
          </a:xfrm>
          <a:prstGeom prst="rect">
            <a:avLst/>
          </a:prstGeom>
        </p:spPr>
      </p:pic>
      <p:sp>
        <p:nvSpPr>
          <p:cNvPr id="6" name="Shape 3"/>
          <p:cNvSpPr/>
          <p:nvPr/>
        </p:nvSpPr>
        <p:spPr>
          <a:xfrm>
            <a:off x="365760" y="4494276"/>
            <a:ext cx="2651760" cy="507492"/>
          </a:xfrm>
          <a:prstGeom prst="rect">
            <a:avLst/>
          </a:prstGeom>
          <a:solidFill>
            <a:srgbClr val="FFFFFF"/>
          </a:solidFill>
          <a:ln w="12700">
            <a:solidFill>
              <a:srgbClr val="FF6B6B">
                <a:alpha val="50000"/>
              </a:srgbClr>
            </a:solidFill>
            <a:prstDash val="solid"/>
          </a:ln>
          <a:effectLst>
            <a:outerShdw blurRad="101600" dist="38100" dir="8100000" algn="bl" rotWithShape="0">
              <a:srgbClr val="000000">
                <a:alpha val="10000"/>
              </a:srgbClr>
            </a:outerShdw>
          </a:effectLst>
        </p:spPr>
        <p:txBody>
          <a:bodyPr/>
          <a:lstStyle/>
          <a:p>
            <a:endParaRPr lang="en-US" dirty="0"/>
          </a:p>
        </p:txBody>
      </p:sp>
      <p:sp>
        <p:nvSpPr>
          <p:cNvPr id="7" name="Text 4"/>
          <p:cNvSpPr/>
          <p:nvPr/>
        </p:nvSpPr>
        <p:spPr>
          <a:xfrm>
            <a:off x="457200" y="4512564"/>
            <a:ext cx="2468880" cy="292608"/>
          </a:xfrm>
          <a:prstGeom prst="rect">
            <a:avLst/>
          </a:prstGeom>
          <a:noFill/>
          <a:ln/>
        </p:spPr>
        <p:txBody>
          <a:bodyPr wrap="square" rtlCol="0" anchor="ctr"/>
          <a:lstStyle/>
          <a:p>
            <a:pPr marL="0" indent="0">
              <a:buNone/>
            </a:pPr>
            <a:r>
              <a:rPr lang="en-US" sz="1100" b="1" dirty="0">
                <a:solidFill>
                  <a:srgbClr val="FF6B6B"/>
                </a:solidFill>
              </a:rPr>
              <a:t>🚀  Innovation / Upskilling</a:t>
            </a:r>
            <a:endParaRPr lang="en-US" sz="1100" dirty="0"/>
          </a:p>
        </p:txBody>
      </p:sp>
      <p:sp>
        <p:nvSpPr>
          <p:cNvPr id="8" name="Text 5"/>
          <p:cNvSpPr/>
          <p:nvPr/>
        </p:nvSpPr>
        <p:spPr>
          <a:xfrm>
            <a:off x="457200" y="4608576"/>
            <a:ext cx="2468880" cy="320040"/>
          </a:xfrm>
          <a:prstGeom prst="rect">
            <a:avLst/>
          </a:prstGeom>
          <a:noFill/>
          <a:ln/>
        </p:spPr>
        <p:txBody>
          <a:bodyPr wrap="square" rtlCol="0" anchor="ctr"/>
          <a:lstStyle/>
          <a:p>
            <a:pPr marL="0" indent="0">
              <a:buNone/>
            </a:pPr>
            <a:r>
              <a:rPr lang="en-US" sz="1000" dirty="0">
                <a:solidFill>
                  <a:srgbClr val="4A5568"/>
                </a:solidFill>
              </a:rPr>
              <a:t>No growth = no reason to stay</a:t>
            </a:r>
            <a:endParaRPr lang="en-US" sz="1000" dirty="0"/>
          </a:p>
        </p:txBody>
      </p:sp>
      <p:sp>
        <p:nvSpPr>
          <p:cNvPr id="9" name="Shape 6"/>
          <p:cNvSpPr/>
          <p:nvPr/>
        </p:nvSpPr>
        <p:spPr>
          <a:xfrm>
            <a:off x="3200400" y="4475988"/>
            <a:ext cx="2651760" cy="507492"/>
          </a:xfrm>
          <a:prstGeom prst="rect">
            <a:avLst/>
          </a:prstGeom>
          <a:solidFill>
            <a:srgbClr val="FFFFFF"/>
          </a:solidFill>
          <a:ln w="12700">
            <a:solidFill>
              <a:srgbClr val="FF6B6B">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0" name="Text 7"/>
          <p:cNvSpPr/>
          <p:nvPr/>
        </p:nvSpPr>
        <p:spPr>
          <a:xfrm>
            <a:off x="3291840" y="4503222"/>
            <a:ext cx="2468880" cy="292608"/>
          </a:xfrm>
          <a:prstGeom prst="rect">
            <a:avLst/>
          </a:prstGeom>
          <a:noFill/>
          <a:ln/>
        </p:spPr>
        <p:txBody>
          <a:bodyPr wrap="square" rtlCol="0" anchor="ctr"/>
          <a:lstStyle/>
          <a:p>
            <a:pPr marL="0" indent="0">
              <a:buNone/>
            </a:pPr>
            <a:r>
              <a:rPr lang="en-US" sz="1100" b="1" dirty="0">
                <a:solidFill>
                  <a:srgbClr val="FF6B6B"/>
                </a:solidFill>
              </a:rPr>
              <a:t>👑  Leadership Opportunities</a:t>
            </a:r>
            <a:endParaRPr lang="en-US" sz="1100" dirty="0"/>
          </a:p>
        </p:txBody>
      </p:sp>
      <p:sp>
        <p:nvSpPr>
          <p:cNvPr id="11" name="Text 8"/>
          <p:cNvSpPr/>
          <p:nvPr/>
        </p:nvSpPr>
        <p:spPr>
          <a:xfrm>
            <a:off x="3291840" y="4608576"/>
            <a:ext cx="2468880" cy="320040"/>
          </a:xfrm>
          <a:prstGeom prst="rect">
            <a:avLst/>
          </a:prstGeom>
          <a:noFill/>
          <a:ln/>
        </p:spPr>
        <p:txBody>
          <a:bodyPr wrap="square" rtlCol="0" anchor="ctr"/>
          <a:lstStyle/>
          <a:p>
            <a:pPr marL="0" indent="0">
              <a:buNone/>
            </a:pPr>
            <a:r>
              <a:rPr lang="en-US" sz="1000" dirty="0">
                <a:solidFill>
                  <a:srgbClr val="4A5568"/>
                </a:solidFill>
              </a:rPr>
              <a:t>People want to lead, not just follow</a:t>
            </a:r>
            <a:endParaRPr lang="en-US" sz="1000" dirty="0"/>
          </a:p>
        </p:txBody>
      </p:sp>
      <p:sp>
        <p:nvSpPr>
          <p:cNvPr id="12" name="Shape 9"/>
          <p:cNvSpPr/>
          <p:nvPr/>
        </p:nvSpPr>
        <p:spPr>
          <a:xfrm>
            <a:off x="6035040" y="4475988"/>
            <a:ext cx="2651760" cy="507492"/>
          </a:xfrm>
          <a:prstGeom prst="rect">
            <a:avLst/>
          </a:prstGeom>
          <a:solidFill>
            <a:srgbClr val="FFFFFF"/>
          </a:solidFill>
          <a:ln w="12700">
            <a:solidFill>
              <a:srgbClr val="FF6B6B">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3" name="Text 10"/>
          <p:cNvSpPr/>
          <p:nvPr/>
        </p:nvSpPr>
        <p:spPr>
          <a:xfrm>
            <a:off x="6126480" y="4494276"/>
            <a:ext cx="2468880" cy="292608"/>
          </a:xfrm>
          <a:prstGeom prst="rect">
            <a:avLst/>
          </a:prstGeom>
          <a:noFill/>
          <a:ln/>
        </p:spPr>
        <p:txBody>
          <a:bodyPr wrap="square" rtlCol="0" anchor="ctr"/>
          <a:lstStyle/>
          <a:p>
            <a:pPr marL="0" indent="0">
              <a:buNone/>
            </a:pPr>
            <a:r>
              <a:rPr lang="en-US" sz="1100" b="1" dirty="0">
                <a:solidFill>
                  <a:srgbClr val="FF6B6B"/>
                </a:solidFill>
              </a:rPr>
              <a:t>🏠  Remote Work Flexibility</a:t>
            </a:r>
            <a:endParaRPr lang="en-US" sz="1100" dirty="0"/>
          </a:p>
        </p:txBody>
      </p:sp>
      <p:sp>
        <p:nvSpPr>
          <p:cNvPr id="14" name="Text 11"/>
          <p:cNvSpPr/>
          <p:nvPr/>
        </p:nvSpPr>
        <p:spPr>
          <a:xfrm>
            <a:off x="6126480" y="4608576"/>
            <a:ext cx="2468880" cy="320040"/>
          </a:xfrm>
          <a:prstGeom prst="rect">
            <a:avLst/>
          </a:prstGeom>
          <a:noFill/>
          <a:ln/>
        </p:spPr>
        <p:txBody>
          <a:bodyPr wrap="square" rtlCol="0" anchor="ctr"/>
          <a:lstStyle/>
          <a:p>
            <a:pPr marL="0" indent="0">
              <a:buNone/>
            </a:pPr>
            <a:r>
              <a:rPr lang="en-US" sz="1000" dirty="0">
                <a:solidFill>
                  <a:srgbClr val="4A5568"/>
                </a:solidFill>
              </a:rPr>
              <a:t>Flexibility is now a baseline expectation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A5298"/>
          </a:solidFill>
          <a:ln w="12700">
            <a:solidFill>
              <a:srgbClr val="2A5298"/>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200" b="1" kern="0" spc="200" dirty="0">
                <a:solidFill>
                  <a:srgbClr val="FFFFFF"/>
                </a:solidFill>
              </a:rPr>
              <a:t>THE VOICE OF THE EMPLOYEE</a:t>
            </a:r>
            <a:endParaRPr lang="en-US" sz="2200" dirty="0"/>
          </a:p>
        </p:txBody>
      </p:sp>
      <p:sp>
        <p:nvSpPr>
          <p:cNvPr id="4" name="Text 2"/>
          <p:cNvSpPr/>
          <p:nvPr/>
        </p:nvSpPr>
        <p:spPr>
          <a:xfrm>
            <a:off x="365760" y="777240"/>
            <a:ext cx="8412480" cy="402336"/>
          </a:xfrm>
          <a:prstGeom prst="rect">
            <a:avLst/>
          </a:prstGeom>
          <a:noFill/>
          <a:ln/>
        </p:spPr>
        <p:txBody>
          <a:bodyPr wrap="square" rtlCol="0" anchor="ctr"/>
          <a:lstStyle/>
          <a:p>
            <a:pPr marL="0" indent="0">
              <a:buNone/>
            </a:pPr>
            <a:r>
              <a:rPr lang="en-US" sz="1300" i="1" dirty="0">
                <a:solidFill>
                  <a:srgbClr val="4A5568"/>
                </a:solidFill>
              </a:rPr>
              <a:t>Survey feedback paired with sentiment intensity and attrition rates — department by department. These are their words. Let's hear them.</a:t>
            </a:r>
            <a:endParaRPr lang="en-US" sz="1300" dirty="0"/>
          </a:p>
        </p:txBody>
      </p:sp>
      <p:pic>
        <p:nvPicPr>
          <p:cNvPr id="5" name="Image 0" descr="preencoded.png"/>
          <p:cNvPicPr>
            <a:picLocks noChangeAspect="1"/>
          </p:cNvPicPr>
          <p:nvPr/>
        </p:nvPicPr>
        <p:blipFill>
          <a:blip r:embed="rId3"/>
          <a:stretch>
            <a:fillRect/>
          </a:stretch>
        </p:blipFill>
        <p:spPr>
          <a:xfrm>
            <a:off x="502920" y="1245870"/>
            <a:ext cx="5868063" cy="2651760"/>
          </a:xfrm>
          <a:prstGeom prst="rect">
            <a:avLst/>
          </a:prstGeom>
        </p:spPr>
      </p:pic>
      <p:sp>
        <p:nvSpPr>
          <p:cNvPr id="6" name="Shape 3"/>
          <p:cNvSpPr/>
          <p:nvPr/>
        </p:nvSpPr>
        <p:spPr>
          <a:xfrm>
            <a:off x="6720840" y="1234440"/>
            <a:ext cx="2148840" cy="2651760"/>
          </a:xfrm>
          <a:prstGeom prst="rect">
            <a:avLst/>
          </a:prstGeom>
          <a:solidFill>
            <a:srgbClr val="FFFFFF"/>
          </a:solidFill>
          <a:ln w="12700">
            <a:solidFill>
              <a:srgbClr val="2A5298">
                <a:alpha val="3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7" name="Text 4"/>
          <p:cNvSpPr/>
          <p:nvPr/>
        </p:nvSpPr>
        <p:spPr>
          <a:xfrm>
            <a:off x="6812280" y="1325880"/>
            <a:ext cx="1965960" cy="292608"/>
          </a:xfrm>
          <a:prstGeom prst="rect">
            <a:avLst/>
          </a:prstGeom>
          <a:noFill/>
          <a:ln/>
        </p:spPr>
        <p:txBody>
          <a:bodyPr wrap="square" rtlCol="0" anchor="ctr"/>
          <a:lstStyle/>
          <a:p>
            <a:pPr marL="0" indent="0">
              <a:buNone/>
            </a:pPr>
            <a:r>
              <a:rPr lang="en-US" sz="1200" b="1" dirty="0">
                <a:solidFill>
                  <a:srgbClr val="1E3A5F"/>
                </a:solidFill>
              </a:rPr>
              <a:t>Key Takeaways</a:t>
            </a:r>
            <a:endParaRPr lang="en-US" sz="1200" dirty="0"/>
          </a:p>
        </p:txBody>
      </p:sp>
      <p:sp>
        <p:nvSpPr>
          <p:cNvPr id="8" name="Text 5"/>
          <p:cNvSpPr/>
          <p:nvPr/>
        </p:nvSpPr>
        <p:spPr>
          <a:xfrm>
            <a:off x="6812280" y="1691640"/>
            <a:ext cx="1965960" cy="475488"/>
          </a:xfrm>
          <a:prstGeom prst="rect">
            <a:avLst/>
          </a:prstGeom>
          <a:noFill/>
          <a:ln/>
        </p:spPr>
        <p:txBody>
          <a:bodyPr wrap="square" rtlCol="0" anchor="ctr"/>
          <a:lstStyle/>
          <a:p>
            <a:pPr marL="0" indent="0">
              <a:buNone/>
            </a:pPr>
            <a:r>
              <a:rPr lang="en-US" sz="1000" dirty="0">
                <a:solidFill>
                  <a:srgbClr val="4A5568"/>
                </a:solidFill>
              </a:rPr>
              <a:t>→  Media tops attrition at 55.5% — despite positive feedback</a:t>
            </a:r>
            <a:endParaRPr lang="en-US" sz="1000" dirty="0"/>
          </a:p>
        </p:txBody>
      </p:sp>
      <p:sp>
        <p:nvSpPr>
          <p:cNvPr id="9" name="Text 6"/>
          <p:cNvSpPr/>
          <p:nvPr/>
        </p:nvSpPr>
        <p:spPr>
          <a:xfrm>
            <a:off x="6812280" y="2221992"/>
            <a:ext cx="1965960" cy="475488"/>
          </a:xfrm>
          <a:prstGeom prst="rect">
            <a:avLst/>
          </a:prstGeom>
          <a:noFill/>
          <a:ln/>
        </p:spPr>
        <p:txBody>
          <a:bodyPr wrap="square" rtlCol="0" anchor="ctr"/>
          <a:lstStyle/>
          <a:p>
            <a:pPr marL="0" indent="0">
              <a:buNone/>
            </a:pPr>
            <a:r>
              <a:rPr lang="en-US" sz="1000" dirty="0">
                <a:solidFill>
                  <a:srgbClr val="4A5568"/>
                </a:solidFill>
              </a:rPr>
              <a:t>→  Healthcare &amp; Education feel "neutral" — disengagement is silent</a:t>
            </a:r>
            <a:endParaRPr lang="en-US" sz="1000" dirty="0"/>
          </a:p>
        </p:txBody>
      </p:sp>
      <p:sp>
        <p:nvSpPr>
          <p:cNvPr id="10" name="Text 7"/>
          <p:cNvSpPr/>
          <p:nvPr/>
        </p:nvSpPr>
        <p:spPr>
          <a:xfrm>
            <a:off x="6812280" y="2752344"/>
            <a:ext cx="1965960" cy="475488"/>
          </a:xfrm>
          <a:prstGeom prst="rect">
            <a:avLst/>
          </a:prstGeom>
          <a:noFill/>
          <a:ln/>
        </p:spPr>
        <p:txBody>
          <a:bodyPr wrap="square" rtlCol="0" anchor="ctr"/>
          <a:lstStyle/>
          <a:p>
            <a:pPr marL="0" indent="0">
              <a:buNone/>
            </a:pPr>
            <a:r>
              <a:rPr lang="en-US" sz="1000" dirty="0">
                <a:solidFill>
                  <a:srgbClr val="4A5568"/>
                </a:solidFill>
              </a:rPr>
              <a:t>→  Technology employees note repetitiveness — a growth signal</a:t>
            </a:r>
            <a:endParaRPr lang="en-US" sz="1000" dirty="0"/>
          </a:p>
        </p:txBody>
      </p:sp>
      <p:sp>
        <p:nvSpPr>
          <p:cNvPr id="11" name="Text 8"/>
          <p:cNvSpPr/>
          <p:nvPr/>
        </p:nvSpPr>
        <p:spPr>
          <a:xfrm>
            <a:off x="6812280" y="3282696"/>
            <a:ext cx="1965960" cy="475488"/>
          </a:xfrm>
          <a:prstGeom prst="rect">
            <a:avLst/>
          </a:prstGeom>
          <a:noFill/>
          <a:ln/>
        </p:spPr>
        <p:txBody>
          <a:bodyPr wrap="square" rtlCol="0" anchor="ctr"/>
          <a:lstStyle/>
          <a:p>
            <a:pPr marL="0" indent="0">
              <a:buNone/>
            </a:pPr>
            <a:r>
              <a:rPr lang="en-US" sz="1000" dirty="0">
                <a:solidFill>
                  <a:srgbClr val="4A5568"/>
                </a:solidFill>
              </a:rPr>
              <a:t>→  No dept is above 0.511 sentiment — room to grow everywhere</a:t>
            </a:r>
            <a:endParaRPr lang="en-US" sz="1000" dirty="0"/>
          </a:p>
        </p:txBody>
      </p:sp>
      <p:sp>
        <p:nvSpPr>
          <p:cNvPr id="12" name="Shape 9"/>
          <p:cNvSpPr/>
          <p:nvPr/>
        </p:nvSpPr>
        <p:spPr>
          <a:xfrm>
            <a:off x="365760" y="3995928"/>
            <a:ext cx="8412480" cy="877824"/>
          </a:xfrm>
          <a:prstGeom prst="rect">
            <a:avLst/>
          </a:prstGeom>
          <a:solidFill>
            <a:srgbClr val="E8F8F0"/>
          </a:solidFill>
          <a:ln w="12700">
            <a:solidFill>
              <a:srgbClr val="1ABC9C">
                <a:alpha val="40000"/>
              </a:srgbClr>
            </a:solidFill>
            <a:prstDash val="solid"/>
          </a:ln>
        </p:spPr>
        <p:txBody>
          <a:bodyPr/>
          <a:lstStyle/>
          <a:p>
            <a:endParaRPr lang="en-US"/>
          </a:p>
        </p:txBody>
      </p:sp>
      <p:sp>
        <p:nvSpPr>
          <p:cNvPr id="13" name="Text 10"/>
          <p:cNvSpPr/>
          <p:nvPr/>
        </p:nvSpPr>
        <p:spPr>
          <a:xfrm>
            <a:off x="502920" y="4050792"/>
            <a:ext cx="8229600" cy="274320"/>
          </a:xfrm>
          <a:prstGeom prst="rect">
            <a:avLst/>
          </a:prstGeom>
          <a:noFill/>
          <a:ln/>
        </p:spPr>
        <p:txBody>
          <a:bodyPr wrap="square" rtlCol="0" anchor="ctr"/>
          <a:lstStyle/>
          <a:p>
            <a:pPr marL="0" indent="0">
              <a:buNone/>
            </a:pPr>
            <a:r>
              <a:rPr lang="en-US" sz="1100" b="1" dirty="0">
                <a:solidFill>
                  <a:srgbClr val="1ABC9C"/>
                </a:solidFill>
              </a:rPr>
              <a:t>💬  Key Points</a:t>
            </a:r>
            <a:endParaRPr lang="en-US" sz="1100" dirty="0"/>
          </a:p>
        </p:txBody>
      </p:sp>
      <p:sp>
        <p:nvSpPr>
          <p:cNvPr id="14" name="Text 11"/>
          <p:cNvSpPr/>
          <p:nvPr/>
        </p:nvSpPr>
        <p:spPr>
          <a:xfrm>
            <a:off x="502920" y="4325112"/>
            <a:ext cx="8229600" cy="548640"/>
          </a:xfrm>
          <a:prstGeom prst="rect">
            <a:avLst/>
          </a:prstGeom>
          <a:noFill/>
          <a:ln/>
        </p:spPr>
        <p:txBody>
          <a:bodyPr wrap="square" rtlCol="0" anchor="ctr"/>
          <a:lstStyle/>
          <a:p>
            <a:pPr marL="0" indent="0">
              <a:buNone/>
            </a:pPr>
            <a:r>
              <a:rPr lang="en-US" sz="1100" dirty="0">
                <a:solidFill>
                  <a:srgbClr val="4A5568"/>
                </a:solidFill>
              </a:rPr>
              <a:t>→  Even "positive" feedback departments have high attrition. Culture is good — but opportunity isn't meeting expectation.</a:t>
            </a:r>
            <a:endParaRPr lang="en-US" sz="1100" dirty="0"/>
          </a:p>
          <a:p>
            <a:pPr marL="0" indent="0">
              <a:buNone/>
            </a:pPr>
            <a:r>
              <a:rPr lang="en-US" sz="1100" dirty="0">
                <a:solidFill>
                  <a:srgbClr val="4A5568"/>
                </a:solidFill>
              </a:rPr>
              <a:t>→  Neutral isn't safe. Quiet disengagement is a slow leak — we're here to fix the pipe.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B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BC9C"/>
          </a:solidFill>
          <a:ln w="12700">
            <a:solidFill>
              <a:srgbClr val="1ABC9C"/>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000" b="1" kern="0" spc="100" dirty="0">
                <a:solidFill>
                  <a:srgbClr val="FFFFFF"/>
                </a:solidFill>
              </a:rPr>
              <a:t>OUR RESPONSE — WHAT WE'RE GOING TO DO</a:t>
            </a:r>
            <a:endParaRPr lang="en-US" sz="2000" dirty="0"/>
          </a:p>
        </p:txBody>
      </p:sp>
      <p:sp>
        <p:nvSpPr>
          <p:cNvPr id="4" name="Text 2"/>
          <p:cNvSpPr/>
          <p:nvPr/>
        </p:nvSpPr>
        <p:spPr>
          <a:xfrm>
            <a:off x="365760" y="777240"/>
            <a:ext cx="8412480" cy="384048"/>
          </a:xfrm>
          <a:prstGeom prst="rect">
            <a:avLst/>
          </a:prstGeom>
          <a:noFill/>
          <a:ln/>
        </p:spPr>
        <p:txBody>
          <a:bodyPr wrap="square" rtlCol="0" anchor="ctr"/>
          <a:lstStyle/>
          <a:p>
            <a:pPr marL="0" indent="0">
              <a:buNone/>
            </a:pPr>
            <a:r>
              <a:rPr lang="en-US" sz="1300" i="1" dirty="0">
                <a:solidFill>
                  <a:srgbClr val="4A5568"/>
                </a:solidFill>
              </a:rPr>
              <a:t>Now that we know what's happening — here's how we're going to fix it. These aren't just ideas; they're commitments.</a:t>
            </a:r>
            <a:endParaRPr lang="en-US" sz="1300" dirty="0"/>
          </a:p>
        </p:txBody>
      </p:sp>
      <p:sp>
        <p:nvSpPr>
          <p:cNvPr id="5" name="Shape 3"/>
          <p:cNvSpPr/>
          <p:nvPr/>
        </p:nvSpPr>
        <p:spPr>
          <a:xfrm>
            <a:off x="274320" y="1261872"/>
            <a:ext cx="4160520" cy="1554480"/>
          </a:xfrm>
          <a:prstGeom prst="rect">
            <a:avLst/>
          </a:prstGeom>
          <a:solidFill>
            <a:srgbClr val="EEF4FB"/>
          </a:solidFill>
          <a:ln w="12700">
            <a:solidFill>
              <a:srgbClr val="2A5298">
                <a:alpha val="4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274320" y="1261872"/>
            <a:ext cx="4160520" cy="320040"/>
          </a:xfrm>
          <a:prstGeom prst="rect">
            <a:avLst/>
          </a:prstGeom>
          <a:solidFill>
            <a:srgbClr val="2A5298"/>
          </a:solidFill>
          <a:ln w="12700">
            <a:solidFill>
              <a:srgbClr val="2A5298"/>
            </a:solidFill>
            <a:prstDash val="solid"/>
          </a:ln>
        </p:spPr>
        <p:txBody>
          <a:bodyPr/>
          <a:lstStyle/>
          <a:p>
            <a:endParaRPr lang="en-US"/>
          </a:p>
        </p:txBody>
      </p:sp>
      <p:sp>
        <p:nvSpPr>
          <p:cNvPr id="7" name="Text 5"/>
          <p:cNvSpPr/>
          <p:nvPr/>
        </p:nvSpPr>
        <p:spPr>
          <a:xfrm>
            <a:off x="365760" y="1298448"/>
            <a:ext cx="3931920" cy="256032"/>
          </a:xfrm>
          <a:prstGeom prst="rect">
            <a:avLst/>
          </a:prstGeom>
          <a:noFill/>
          <a:ln/>
        </p:spPr>
        <p:txBody>
          <a:bodyPr wrap="square" rtlCol="0" anchor="ctr"/>
          <a:lstStyle/>
          <a:p>
            <a:pPr marL="0" indent="0">
              <a:buNone/>
            </a:pPr>
            <a:r>
              <a:rPr lang="en-US" sz="1200" b="1" dirty="0">
                <a:solidFill>
                  <a:srgbClr val="FFFFFF"/>
                </a:solidFill>
              </a:rPr>
              <a:t>🚀  Innovation &amp; Upskilling</a:t>
            </a:r>
            <a:endParaRPr lang="en-US" sz="1200" dirty="0"/>
          </a:p>
        </p:txBody>
      </p:sp>
      <p:sp>
        <p:nvSpPr>
          <p:cNvPr id="8" name="Text 6"/>
          <p:cNvSpPr/>
          <p:nvPr/>
        </p:nvSpPr>
        <p:spPr>
          <a:xfrm>
            <a:off x="365760" y="1655064"/>
            <a:ext cx="3931920" cy="347472"/>
          </a:xfrm>
          <a:prstGeom prst="rect">
            <a:avLst/>
          </a:prstGeom>
          <a:noFill/>
          <a:ln/>
        </p:spPr>
        <p:txBody>
          <a:bodyPr wrap="square" rtlCol="0" anchor="ctr"/>
          <a:lstStyle/>
          <a:p>
            <a:pPr marL="0" indent="0">
              <a:buNone/>
            </a:pPr>
            <a:r>
              <a:rPr lang="en-US" sz="1050" dirty="0">
                <a:solidFill>
                  <a:srgbClr val="1A2B42"/>
                </a:solidFill>
              </a:rPr>
              <a:t>✓  Launch a company-wide learning portal with role-based tracks</a:t>
            </a:r>
            <a:endParaRPr lang="en-US" sz="1050" dirty="0"/>
          </a:p>
        </p:txBody>
      </p:sp>
      <p:sp>
        <p:nvSpPr>
          <p:cNvPr id="9" name="Text 7"/>
          <p:cNvSpPr/>
          <p:nvPr/>
        </p:nvSpPr>
        <p:spPr>
          <a:xfrm>
            <a:off x="365760" y="2020824"/>
            <a:ext cx="3931920" cy="347472"/>
          </a:xfrm>
          <a:prstGeom prst="rect">
            <a:avLst/>
          </a:prstGeom>
          <a:noFill/>
          <a:ln/>
        </p:spPr>
        <p:txBody>
          <a:bodyPr wrap="square" rtlCol="0" anchor="ctr"/>
          <a:lstStyle/>
          <a:p>
            <a:pPr marL="0" indent="0">
              <a:buNone/>
            </a:pPr>
            <a:r>
              <a:rPr lang="en-US" sz="1050" dirty="0">
                <a:solidFill>
                  <a:srgbClr val="1A2B42"/>
                </a:solidFill>
              </a:rPr>
              <a:t>✓  Monthly 'Innovation Hours' — protected time for experimentation</a:t>
            </a:r>
            <a:endParaRPr lang="en-US" sz="1050" dirty="0"/>
          </a:p>
        </p:txBody>
      </p:sp>
      <p:sp>
        <p:nvSpPr>
          <p:cNvPr id="10" name="Text 8"/>
          <p:cNvSpPr/>
          <p:nvPr/>
        </p:nvSpPr>
        <p:spPr>
          <a:xfrm>
            <a:off x="365760" y="2386584"/>
            <a:ext cx="3931920" cy="347472"/>
          </a:xfrm>
          <a:prstGeom prst="rect">
            <a:avLst/>
          </a:prstGeom>
          <a:noFill/>
          <a:ln/>
        </p:spPr>
        <p:txBody>
          <a:bodyPr wrap="square" rtlCol="0" anchor="ctr"/>
          <a:lstStyle/>
          <a:p>
            <a:pPr marL="0" indent="0">
              <a:buNone/>
            </a:pPr>
            <a:r>
              <a:rPr lang="en-US" sz="1050" dirty="0">
                <a:solidFill>
                  <a:srgbClr val="1A2B42"/>
                </a:solidFill>
              </a:rPr>
              <a:t>✓  Skills badges and visible career progression maps</a:t>
            </a:r>
            <a:endParaRPr lang="en-US" sz="1050" dirty="0"/>
          </a:p>
        </p:txBody>
      </p:sp>
      <p:sp>
        <p:nvSpPr>
          <p:cNvPr id="11" name="Shape 9"/>
          <p:cNvSpPr/>
          <p:nvPr/>
        </p:nvSpPr>
        <p:spPr>
          <a:xfrm>
            <a:off x="4709160" y="1261872"/>
            <a:ext cx="4160520" cy="1554480"/>
          </a:xfrm>
          <a:prstGeom prst="rect">
            <a:avLst/>
          </a:prstGeom>
          <a:solidFill>
            <a:srgbClr val="E8F8F5"/>
          </a:solidFill>
          <a:ln w="12700">
            <a:solidFill>
              <a:srgbClr val="1ABC9C">
                <a:alpha val="4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2" name="Shape 10"/>
          <p:cNvSpPr/>
          <p:nvPr/>
        </p:nvSpPr>
        <p:spPr>
          <a:xfrm>
            <a:off x="4709160" y="1261872"/>
            <a:ext cx="4160520" cy="320040"/>
          </a:xfrm>
          <a:prstGeom prst="rect">
            <a:avLst/>
          </a:prstGeom>
          <a:solidFill>
            <a:srgbClr val="1ABC9C"/>
          </a:solidFill>
          <a:ln w="12700">
            <a:solidFill>
              <a:srgbClr val="1ABC9C"/>
            </a:solidFill>
            <a:prstDash val="solid"/>
          </a:ln>
        </p:spPr>
        <p:txBody>
          <a:bodyPr/>
          <a:lstStyle/>
          <a:p>
            <a:endParaRPr lang="en-US"/>
          </a:p>
        </p:txBody>
      </p:sp>
      <p:sp>
        <p:nvSpPr>
          <p:cNvPr id="13" name="Text 11"/>
          <p:cNvSpPr/>
          <p:nvPr/>
        </p:nvSpPr>
        <p:spPr>
          <a:xfrm>
            <a:off x="4800600" y="1298448"/>
            <a:ext cx="3931920" cy="256032"/>
          </a:xfrm>
          <a:prstGeom prst="rect">
            <a:avLst/>
          </a:prstGeom>
          <a:noFill/>
          <a:ln/>
        </p:spPr>
        <p:txBody>
          <a:bodyPr wrap="square" rtlCol="0" anchor="ctr"/>
          <a:lstStyle/>
          <a:p>
            <a:pPr marL="0" indent="0">
              <a:buNone/>
            </a:pPr>
            <a:r>
              <a:rPr lang="en-US" sz="1200" b="1" dirty="0">
                <a:solidFill>
                  <a:srgbClr val="FFFFFF"/>
                </a:solidFill>
              </a:rPr>
              <a:t>👑  Leadership Pathways</a:t>
            </a:r>
            <a:endParaRPr lang="en-US" sz="1200" dirty="0"/>
          </a:p>
        </p:txBody>
      </p:sp>
      <p:sp>
        <p:nvSpPr>
          <p:cNvPr id="14" name="Text 12"/>
          <p:cNvSpPr/>
          <p:nvPr/>
        </p:nvSpPr>
        <p:spPr>
          <a:xfrm>
            <a:off x="4800600" y="1655064"/>
            <a:ext cx="3931920" cy="347472"/>
          </a:xfrm>
          <a:prstGeom prst="rect">
            <a:avLst/>
          </a:prstGeom>
          <a:noFill/>
          <a:ln/>
        </p:spPr>
        <p:txBody>
          <a:bodyPr wrap="square" rtlCol="0" anchor="ctr"/>
          <a:lstStyle/>
          <a:p>
            <a:pPr marL="0" indent="0">
              <a:buNone/>
            </a:pPr>
            <a:r>
              <a:rPr lang="en-US" sz="1050" dirty="0">
                <a:solidFill>
                  <a:srgbClr val="1A2B42"/>
                </a:solidFill>
              </a:rPr>
              <a:t>✓  Create an internal leadership pipeline program</a:t>
            </a:r>
            <a:endParaRPr lang="en-US" sz="1050" dirty="0"/>
          </a:p>
        </p:txBody>
      </p:sp>
      <p:sp>
        <p:nvSpPr>
          <p:cNvPr id="15" name="Text 13"/>
          <p:cNvSpPr/>
          <p:nvPr/>
        </p:nvSpPr>
        <p:spPr>
          <a:xfrm>
            <a:off x="4800600" y="2020824"/>
            <a:ext cx="3931920" cy="347472"/>
          </a:xfrm>
          <a:prstGeom prst="rect">
            <a:avLst/>
          </a:prstGeom>
          <a:noFill/>
          <a:ln/>
        </p:spPr>
        <p:txBody>
          <a:bodyPr wrap="square" rtlCol="0" anchor="ctr"/>
          <a:lstStyle/>
          <a:p>
            <a:pPr marL="0" indent="0">
              <a:buNone/>
            </a:pPr>
            <a:r>
              <a:rPr lang="en-US" sz="1050" dirty="0">
                <a:solidFill>
                  <a:srgbClr val="1A2B42"/>
                </a:solidFill>
              </a:rPr>
              <a:t>✓  Mentorship pairs: senior leaders + high-potential employees</a:t>
            </a:r>
            <a:endParaRPr lang="en-US" sz="1050" dirty="0"/>
          </a:p>
        </p:txBody>
      </p:sp>
      <p:sp>
        <p:nvSpPr>
          <p:cNvPr id="16" name="Text 14"/>
          <p:cNvSpPr/>
          <p:nvPr/>
        </p:nvSpPr>
        <p:spPr>
          <a:xfrm>
            <a:off x="4800600" y="2386584"/>
            <a:ext cx="3931920" cy="347472"/>
          </a:xfrm>
          <a:prstGeom prst="rect">
            <a:avLst/>
          </a:prstGeom>
          <a:noFill/>
          <a:ln/>
        </p:spPr>
        <p:txBody>
          <a:bodyPr wrap="square" rtlCol="0" anchor="ctr"/>
          <a:lstStyle/>
          <a:p>
            <a:pPr marL="0" indent="0">
              <a:buNone/>
            </a:pPr>
            <a:r>
              <a:rPr lang="en-US" sz="1050" dirty="0">
                <a:solidFill>
                  <a:srgbClr val="1A2B42"/>
                </a:solidFill>
              </a:rPr>
              <a:t>✓  Transparent promotion criteria for all levels</a:t>
            </a:r>
            <a:endParaRPr lang="en-US" sz="1050" dirty="0"/>
          </a:p>
        </p:txBody>
      </p:sp>
      <p:sp>
        <p:nvSpPr>
          <p:cNvPr id="17" name="Shape 15"/>
          <p:cNvSpPr/>
          <p:nvPr/>
        </p:nvSpPr>
        <p:spPr>
          <a:xfrm>
            <a:off x="274320" y="2953512"/>
            <a:ext cx="4160520" cy="1554480"/>
          </a:xfrm>
          <a:prstGeom prst="rect">
            <a:avLst/>
          </a:prstGeom>
          <a:solidFill>
            <a:srgbClr val="E8F8F0"/>
          </a:solidFill>
          <a:ln w="12700">
            <a:solidFill>
              <a:srgbClr val="2ECC71">
                <a:alpha val="4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8" name="Shape 16"/>
          <p:cNvSpPr/>
          <p:nvPr/>
        </p:nvSpPr>
        <p:spPr>
          <a:xfrm>
            <a:off x="274320" y="2953512"/>
            <a:ext cx="4160520" cy="320040"/>
          </a:xfrm>
          <a:prstGeom prst="rect">
            <a:avLst/>
          </a:prstGeom>
          <a:solidFill>
            <a:srgbClr val="2ECC71"/>
          </a:solidFill>
          <a:ln w="12700">
            <a:solidFill>
              <a:srgbClr val="2ECC71"/>
            </a:solidFill>
            <a:prstDash val="solid"/>
          </a:ln>
        </p:spPr>
        <p:txBody>
          <a:bodyPr/>
          <a:lstStyle/>
          <a:p>
            <a:endParaRPr lang="en-US"/>
          </a:p>
        </p:txBody>
      </p:sp>
      <p:sp>
        <p:nvSpPr>
          <p:cNvPr id="19" name="Text 17"/>
          <p:cNvSpPr/>
          <p:nvPr/>
        </p:nvSpPr>
        <p:spPr>
          <a:xfrm>
            <a:off x="365760" y="2990088"/>
            <a:ext cx="3931920" cy="256032"/>
          </a:xfrm>
          <a:prstGeom prst="rect">
            <a:avLst/>
          </a:prstGeom>
          <a:noFill/>
          <a:ln/>
        </p:spPr>
        <p:txBody>
          <a:bodyPr wrap="square" rtlCol="0" anchor="ctr"/>
          <a:lstStyle/>
          <a:p>
            <a:pPr marL="0" indent="0">
              <a:buNone/>
            </a:pPr>
            <a:r>
              <a:rPr lang="en-US" sz="1200" b="1" dirty="0">
                <a:solidFill>
                  <a:srgbClr val="FFFFFF"/>
                </a:solidFill>
              </a:rPr>
              <a:t>🏠  Flexible Work Options</a:t>
            </a:r>
            <a:endParaRPr lang="en-US" sz="1200" dirty="0"/>
          </a:p>
        </p:txBody>
      </p:sp>
      <p:sp>
        <p:nvSpPr>
          <p:cNvPr id="20" name="Text 18"/>
          <p:cNvSpPr/>
          <p:nvPr/>
        </p:nvSpPr>
        <p:spPr>
          <a:xfrm>
            <a:off x="365760" y="3346704"/>
            <a:ext cx="3931920" cy="347472"/>
          </a:xfrm>
          <a:prstGeom prst="rect">
            <a:avLst/>
          </a:prstGeom>
          <a:noFill/>
          <a:ln/>
        </p:spPr>
        <p:txBody>
          <a:bodyPr wrap="square" rtlCol="0" anchor="ctr"/>
          <a:lstStyle/>
          <a:p>
            <a:pPr marL="0" indent="0">
              <a:buNone/>
            </a:pPr>
            <a:r>
              <a:rPr lang="en-US" sz="1050" dirty="0">
                <a:solidFill>
                  <a:srgbClr val="1A2B42"/>
                </a:solidFill>
              </a:rPr>
              <a:t>✓  Pilot hybrid work for eligible roles (30–60 day review)</a:t>
            </a:r>
            <a:endParaRPr lang="en-US" sz="1050" dirty="0"/>
          </a:p>
        </p:txBody>
      </p:sp>
      <p:sp>
        <p:nvSpPr>
          <p:cNvPr id="21" name="Text 19"/>
          <p:cNvSpPr/>
          <p:nvPr/>
        </p:nvSpPr>
        <p:spPr>
          <a:xfrm>
            <a:off x="365760" y="3712464"/>
            <a:ext cx="3931920" cy="347472"/>
          </a:xfrm>
          <a:prstGeom prst="rect">
            <a:avLst/>
          </a:prstGeom>
          <a:noFill/>
          <a:ln/>
        </p:spPr>
        <p:txBody>
          <a:bodyPr wrap="square" rtlCol="0" anchor="ctr"/>
          <a:lstStyle/>
          <a:p>
            <a:pPr marL="0" indent="0">
              <a:buNone/>
            </a:pPr>
            <a:r>
              <a:rPr lang="en-US" sz="1050" dirty="0">
                <a:solidFill>
                  <a:srgbClr val="1A2B42"/>
                </a:solidFill>
              </a:rPr>
              <a:t>✓  Team-led agreements on work patterns — no one-size-fits-all</a:t>
            </a:r>
            <a:endParaRPr lang="en-US" sz="1050" dirty="0"/>
          </a:p>
        </p:txBody>
      </p:sp>
      <p:sp>
        <p:nvSpPr>
          <p:cNvPr id="22" name="Text 20"/>
          <p:cNvSpPr/>
          <p:nvPr/>
        </p:nvSpPr>
        <p:spPr>
          <a:xfrm>
            <a:off x="365760" y="4078224"/>
            <a:ext cx="3931920" cy="347472"/>
          </a:xfrm>
          <a:prstGeom prst="rect">
            <a:avLst/>
          </a:prstGeom>
          <a:noFill/>
          <a:ln/>
        </p:spPr>
        <p:txBody>
          <a:bodyPr wrap="square" rtlCol="0" anchor="ctr"/>
          <a:lstStyle/>
          <a:p>
            <a:pPr marL="0" indent="0">
              <a:buNone/>
            </a:pPr>
            <a:r>
              <a:rPr lang="en-US" sz="1050" dirty="0">
                <a:solidFill>
                  <a:srgbClr val="1A2B42"/>
                </a:solidFill>
              </a:rPr>
              <a:t>✓  Productivity measured by outcomes, not hours</a:t>
            </a:r>
            <a:endParaRPr lang="en-US" sz="1050" dirty="0"/>
          </a:p>
        </p:txBody>
      </p:sp>
      <p:sp>
        <p:nvSpPr>
          <p:cNvPr id="23" name="Shape 21"/>
          <p:cNvSpPr/>
          <p:nvPr/>
        </p:nvSpPr>
        <p:spPr>
          <a:xfrm>
            <a:off x="4709160" y="2953512"/>
            <a:ext cx="4160520" cy="1554480"/>
          </a:xfrm>
          <a:prstGeom prst="rect">
            <a:avLst/>
          </a:prstGeom>
          <a:solidFill>
            <a:srgbClr val="FEF3E2"/>
          </a:solidFill>
          <a:ln w="12700">
            <a:solidFill>
              <a:srgbClr val="F5A623">
                <a:alpha val="4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24" name="Shape 22"/>
          <p:cNvSpPr/>
          <p:nvPr/>
        </p:nvSpPr>
        <p:spPr>
          <a:xfrm>
            <a:off x="4709160" y="2953512"/>
            <a:ext cx="4160520" cy="320040"/>
          </a:xfrm>
          <a:prstGeom prst="rect">
            <a:avLst/>
          </a:prstGeom>
          <a:solidFill>
            <a:srgbClr val="F5A623"/>
          </a:solidFill>
          <a:ln w="12700">
            <a:solidFill>
              <a:srgbClr val="F5A623"/>
            </a:solidFill>
            <a:prstDash val="solid"/>
          </a:ln>
        </p:spPr>
        <p:txBody>
          <a:bodyPr/>
          <a:lstStyle/>
          <a:p>
            <a:endParaRPr lang="en-US"/>
          </a:p>
        </p:txBody>
      </p:sp>
      <p:sp>
        <p:nvSpPr>
          <p:cNvPr id="25" name="Text 23"/>
          <p:cNvSpPr/>
          <p:nvPr/>
        </p:nvSpPr>
        <p:spPr>
          <a:xfrm>
            <a:off x="4800600" y="2990088"/>
            <a:ext cx="3931920" cy="256032"/>
          </a:xfrm>
          <a:prstGeom prst="rect">
            <a:avLst/>
          </a:prstGeom>
          <a:noFill/>
          <a:ln/>
        </p:spPr>
        <p:txBody>
          <a:bodyPr wrap="square" rtlCol="0" anchor="ctr"/>
          <a:lstStyle/>
          <a:p>
            <a:pPr marL="0" indent="0">
              <a:buNone/>
            </a:pPr>
            <a:r>
              <a:rPr lang="en-US" sz="1200" b="1" dirty="0">
                <a:solidFill>
                  <a:srgbClr val="FFFFFF"/>
                </a:solidFill>
              </a:rPr>
              <a:t>🌟  Recognition &amp; Culture</a:t>
            </a:r>
            <a:endParaRPr lang="en-US" sz="1200" dirty="0"/>
          </a:p>
        </p:txBody>
      </p:sp>
      <p:sp>
        <p:nvSpPr>
          <p:cNvPr id="26" name="Text 24"/>
          <p:cNvSpPr/>
          <p:nvPr/>
        </p:nvSpPr>
        <p:spPr>
          <a:xfrm>
            <a:off x="4800600" y="3346704"/>
            <a:ext cx="3931920" cy="347472"/>
          </a:xfrm>
          <a:prstGeom prst="rect">
            <a:avLst/>
          </a:prstGeom>
          <a:noFill/>
          <a:ln/>
        </p:spPr>
        <p:txBody>
          <a:bodyPr wrap="square" rtlCol="0" anchor="ctr"/>
          <a:lstStyle/>
          <a:p>
            <a:pPr marL="0" indent="0">
              <a:buNone/>
            </a:pPr>
            <a:r>
              <a:rPr lang="en-US" sz="1050" dirty="0">
                <a:solidFill>
                  <a:srgbClr val="1A2B42"/>
                </a:solidFill>
              </a:rPr>
              <a:t>✓  Monthly peer-recognition program with real rewards</a:t>
            </a:r>
            <a:endParaRPr lang="en-US" sz="1050" dirty="0"/>
          </a:p>
        </p:txBody>
      </p:sp>
      <p:sp>
        <p:nvSpPr>
          <p:cNvPr id="27" name="Text 25"/>
          <p:cNvSpPr/>
          <p:nvPr/>
        </p:nvSpPr>
        <p:spPr>
          <a:xfrm>
            <a:off x="4800600" y="3712464"/>
            <a:ext cx="3931920" cy="347472"/>
          </a:xfrm>
          <a:prstGeom prst="rect">
            <a:avLst/>
          </a:prstGeom>
          <a:noFill/>
          <a:ln/>
        </p:spPr>
        <p:txBody>
          <a:bodyPr wrap="square" rtlCol="0" anchor="ctr"/>
          <a:lstStyle/>
          <a:p>
            <a:pPr marL="0" indent="0">
              <a:buNone/>
            </a:pPr>
            <a:r>
              <a:rPr lang="en-US" sz="1050" dirty="0">
                <a:solidFill>
                  <a:srgbClr val="1A2B42"/>
                </a:solidFill>
              </a:rPr>
              <a:t>✓  Manager training: giving meaningful, specific feedback</a:t>
            </a:r>
            <a:endParaRPr lang="en-US" sz="1050" dirty="0"/>
          </a:p>
        </p:txBody>
      </p:sp>
      <p:sp>
        <p:nvSpPr>
          <p:cNvPr id="28" name="Text 26"/>
          <p:cNvSpPr/>
          <p:nvPr/>
        </p:nvSpPr>
        <p:spPr>
          <a:xfrm>
            <a:off x="4800600" y="4078224"/>
            <a:ext cx="3931920" cy="347472"/>
          </a:xfrm>
          <a:prstGeom prst="rect">
            <a:avLst/>
          </a:prstGeom>
          <a:noFill/>
          <a:ln/>
        </p:spPr>
        <p:txBody>
          <a:bodyPr wrap="square" rtlCol="0" anchor="ctr"/>
          <a:lstStyle/>
          <a:p>
            <a:pPr marL="0" indent="0">
              <a:buNone/>
            </a:pPr>
            <a:r>
              <a:rPr lang="en-US" sz="1050" dirty="0">
                <a:solidFill>
                  <a:srgbClr val="1A2B42"/>
                </a:solidFill>
              </a:rPr>
              <a:t>✓  Annual 'Culture Health' survey and public results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lgn="l">
              <a:buNone/>
            </a:pPr>
            <a:r>
              <a:rPr lang="en-US" sz="2200" b="1" kern="0" spc="200" dirty="0">
                <a:solidFill>
                  <a:srgbClr val="FFFFFF"/>
                </a:solidFill>
              </a:rPr>
              <a:t>90-DAY GAME PLAN — LET'S MOVE!</a:t>
            </a:r>
            <a:endParaRPr lang="en-US" sz="2200" dirty="0"/>
          </a:p>
        </p:txBody>
      </p:sp>
      <p:sp>
        <p:nvSpPr>
          <p:cNvPr id="4" name="Text 2"/>
          <p:cNvSpPr/>
          <p:nvPr/>
        </p:nvSpPr>
        <p:spPr>
          <a:xfrm>
            <a:off x="365760" y="777240"/>
            <a:ext cx="8412480" cy="347472"/>
          </a:xfrm>
          <a:prstGeom prst="rect">
            <a:avLst/>
          </a:prstGeom>
          <a:noFill/>
          <a:ln/>
        </p:spPr>
        <p:txBody>
          <a:bodyPr wrap="square" rtlCol="0" anchor="ctr"/>
          <a:lstStyle/>
          <a:p>
            <a:pPr marL="0" indent="0">
              <a:buNone/>
            </a:pPr>
            <a:r>
              <a:rPr lang="en-US" sz="1300" i="1" dirty="0">
                <a:solidFill>
                  <a:srgbClr val="4A5568"/>
                </a:solidFill>
              </a:rPr>
              <a:t>Three focused sprints. Real milestones. Measurable results. This is how transformation happens.</a:t>
            </a:r>
            <a:endParaRPr lang="en-US" sz="1300" dirty="0"/>
          </a:p>
        </p:txBody>
      </p:sp>
      <p:sp>
        <p:nvSpPr>
          <p:cNvPr id="5" name="Shape 3"/>
          <p:cNvSpPr/>
          <p:nvPr/>
        </p:nvSpPr>
        <p:spPr>
          <a:xfrm>
            <a:off x="228600" y="1234440"/>
            <a:ext cx="2788920" cy="3520440"/>
          </a:xfrm>
          <a:prstGeom prst="rect">
            <a:avLst/>
          </a:prstGeom>
          <a:solidFill>
            <a:srgbClr val="FFF5F5"/>
          </a:solidFill>
          <a:ln w="12700">
            <a:solidFill>
              <a:srgbClr val="FF6B6B">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228600" y="1234440"/>
            <a:ext cx="2788920" cy="548640"/>
          </a:xfrm>
          <a:prstGeom prst="rect">
            <a:avLst/>
          </a:prstGeom>
          <a:solidFill>
            <a:srgbClr val="FF6B6B"/>
          </a:solidFill>
          <a:ln w="12700">
            <a:solidFill>
              <a:srgbClr val="FF6B6B"/>
            </a:solidFill>
            <a:prstDash val="solid"/>
          </a:ln>
        </p:spPr>
        <p:txBody>
          <a:bodyPr/>
          <a:lstStyle/>
          <a:p>
            <a:endParaRPr lang="en-US"/>
          </a:p>
        </p:txBody>
      </p:sp>
      <p:sp>
        <p:nvSpPr>
          <p:cNvPr id="7" name="Text 5"/>
          <p:cNvSpPr/>
          <p:nvPr/>
        </p:nvSpPr>
        <p:spPr>
          <a:xfrm>
            <a:off x="320040" y="1261872"/>
            <a:ext cx="2606040" cy="237744"/>
          </a:xfrm>
          <a:prstGeom prst="rect">
            <a:avLst/>
          </a:prstGeom>
          <a:noFill/>
          <a:ln/>
        </p:spPr>
        <p:txBody>
          <a:bodyPr wrap="square" rtlCol="0" anchor="ctr"/>
          <a:lstStyle/>
          <a:p>
            <a:pPr marL="0" indent="0" algn="ctr">
              <a:buNone/>
            </a:pPr>
            <a:r>
              <a:rPr lang="en-US" sz="1000" b="1" dirty="0">
                <a:solidFill>
                  <a:srgbClr val="FFFFFF"/>
                </a:solidFill>
              </a:rPr>
              <a:t>Days 1–30</a:t>
            </a:r>
            <a:endParaRPr lang="en-US" sz="1000" dirty="0"/>
          </a:p>
        </p:txBody>
      </p:sp>
      <p:sp>
        <p:nvSpPr>
          <p:cNvPr id="8" name="Text 6"/>
          <p:cNvSpPr/>
          <p:nvPr/>
        </p:nvSpPr>
        <p:spPr>
          <a:xfrm>
            <a:off x="320040" y="1499616"/>
            <a:ext cx="2606040" cy="246888"/>
          </a:xfrm>
          <a:prstGeom prst="rect">
            <a:avLst/>
          </a:prstGeom>
          <a:noFill/>
          <a:ln/>
        </p:spPr>
        <p:txBody>
          <a:bodyPr wrap="square" rtlCol="0" anchor="ctr"/>
          <a:lstStyle/>
          <a:p>
            <a:pPr marL="0" indent="0" algn="ctr">
              <a:buNone/>
            </a:pPr>
            <a:r>
              <a:rPr lang="en-US" sz="1100" b="1" dirty="0">
                <a:solidFill>
                  <a:srgbClr val="FFFFFF"/>
                </a:solidFill>
              </a:rPr>
              <a:t>LISTEN &amp; LAUNCH</a:t>
            </a:r>
            <a:endParaRPr lang="en-US" sz="1100" dirty="0"/>
          </a:p>
        </p:txBody>
      </p:sp>
      <p:sp>
        <p:nvSpPr>
          <p:cNvPr id="9" name="Text 7"/>
          <p:cNvSpPr/>
          <p:nvPr/>
        </p:nvSpPr>
        <p:spPr>
          <a:xfrm>
            <a:off x="338328" y="1874520"/>
            <a:ext cx="2578608" cy="530352"/>
          </a:xfrm>
          <a:prstGeom prst="rect">
            <a:avLst/>
          </a:prstGeom>
          <a:noFill/>
          <a:ln/>
        </p:spPr>
        <p:txBody>
          <a:bodyPr wrap="square" rtlCol="0" anchor="ctr"/>
          <a:lstStyle/>
          <a:p>
            <a:pPr marL="0" indent="0">
              <a:buNone/>
            </a:pPr>
            <a:r>
              <a:rPr lang="en-US" sz="1050" dirty="0">
                <a:solidFill>
                  <a:srgbClr val="1A2B42"/>
                </a:solidFill>
              </a:rPr>
              <a:t>1.  Present findings to all departments</a:t>
            </a:r>
            <a:endParaRPr lang="en-US" sz="1050" dirty="0"/>
          </a:p>
        </p:txBody>
      </p:sp>
      <p:sp>
        <p:nvSpPr>
          <p:cNvPr id="10" name="Text 8"/>
          <p:cNvSpPr/>
          <p:nvPr/>
        </p:nvSpPr>
        <p:spPr>
          <a:xfrm>
            <a:off x="338328" y="2450592"/>
            <a:ext cx="2578608" cy="530352"/>
          </a:xfrm>
          <a:prstGeom prst="rect">
            <a:avLst/>
          </a:prstGeom>
          <a:noFill/>
          <a:ln/>
        </p:spPr>
        <p:txBody>
          <a:bodyPr wrap="square" rtlCol="0" anchor="ctr"/>
          <a:lstStyle/>
          <a:p>
            <a:pPr marL="0" indent="0">
              <a:buNone/>
            </a:pPr>
            <a:r>
              <a:rPr lang="en-US" sz="1050" dirty="0">
                <a:solidFill>
                  <a:srgbClr val="1A2B42"/>
                </a:solidFill>
              </a:rPr>
              <a:t>2.  Launch pulse survey for current employees</a:t>
            </a:r>
            <a:endParaRPr lang="en-US" sz="1050" dirty="0"/>
          </a:p>
        </p:txBody>
      </p:sp>
      <p:sp>
        <p:nvSpPr>
          <p:cNvPr id="11" name="Text 9"/>
          <p:cNvSpPr/>
          <p:nvPr/>
        </p:nvSpPr>
        <p:spPr>
          <a:xfrm>
            <a:off x="338328" y="3026664"/>
            <a:ext cx="2578608" cy="530352"/>
          </a:xfrm>
          <a:prstGeom prst="rect">
            <a:avLst/>
          </a:prstGeom>
          <a:noFill/>
          <a:ln/>
        </p:spPr>
        <p:txBody>
          <a:bodyPr wrap="square" rtlCol="0" anchor="ctr"/>
          <a:lstStyle/>
          <a:p>
            <a:pPr marL="0" indent="0">
              <a:buNone/>
            </a:pPr>
            <a:r>
              <a:rPr lang="en-US" sz="1050" dirty="0">
                <a:solidFill>
                  <a:srgbClr val="1A2B42"/>
                </a:solidFill>
              </a:rPr>
              <a:t>3.  Identify 10 high-risk Long Tenure employees for 1:1 conversations</a:t>
            </a:r>
            <a:endParaRPr lang="en-US" sz="1050" dirty="0"/>
          </a:p>
        </p:txBody>
      </p:sp>
      <p:sp>
        <p:nvSpPr>
          <p:cNvPr id="12" name="Text 10"/>
          <p:cNvSpPr/>
          <p:nvPr/>
        </p:nvSpPr>
        <p:spPr>
          <a:xfrm>
            <a:off x="338328" y="3602736"/>
            <a:ext cx="2578608" cy="530352"/>
          </a:xfrm>
          <a:prstGeom prst="rect">
            <a:avLst/>
          </a:prstGeom>
          <a:noFill/>
          <a:ln/>
        </p:spPr>
        <p:txBody>
          <a:bodyPr wrap="square" rtlCol="0" anchor="ctr"/>
          <a:lstStyle/>
          <a:p>
            <a:pPr marL="0" indent="0">
              <a:buNone/>
            </a:pPr>
            <a:r>
              <a:rPr lang="en-US" sz="1050" dirty="0">
                <a:solidFill>
                  <a:srgbClr val="1A2B42"/>
                </a:solidFill>
              </a:rPr>
              <a:t>4.  Announce mentorship program enrollment</a:t>
            </a:r>
            <a:endParaRPr lang="en-US" sz="1050" dirty="0"/>
          </a:p>
        </p:txBody>
      </p:sp>
      <p:sp>
        <p:nvSpPr>
          <p:cNvPr id="13" name="Text 11"/>
          <p:cNvSpPr/>
          <p:nvPr/>
        </p:nvSpPr>
        <p:spPr>
          <a:xfrm>
            <a:off x="338328" y="4178808"/>
            <a:ext cx="2578608" cy="530352"/>
          </a:xfrm>
          <a:prstGeom prst="rect">
            <a:avLst/>
          </a:prstGeom>
          <a:noFill/>
          <a:ln/>
        </p:spPr>
        <p:txBody>
          <a:bodyPr wrap="square" rtlCol="0" anchor="ctr"/>
          <a:lstStyle/>
          <a:p>
            <a:pPr marL="0" indent="0">
              <a:buNone/>
            </a:pPr>
            <a:r>
              <a:rPr lang="en-US" sz="1050" dirty="0">
                <a:solidFill>
                  <a:srgbClr val="1A2B42"/>
                </a:solidFill>
              </a:rPr>
              <a:t>5.  HR partners assigned to each department</a:t>
            </a:r>
            <a:endParaRPr lang="en-US" sz="1050" dirty="0"/>
          </a:p>
        </p:txBody>
      </p:sp>
      <p:sp>
        <p:nvSpPr>
          <p:cNvPr id="14" name="Shape 12"/>
          <p:cNvSpPr/>
          <p:nvPr/>
        </p:nvSpPr>
        <p:spPr>
          <a:xfrm>
            <a:off x="3172968" y="1234440"/>
            <a:ext cx="2788920" cy="3520440"/>
          </a:xfrm>
          <a:prstGeom prst="rect">
            <a:avLst/>
          </a:prstGeom>
          <a:solidFill>
            <a:srgbClr val="FEF3E2"/>
          </a:solidFill>
          <a:ln w="12700">
            <a:solidFill>
              <a:srgbClr val="F5A623">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15" name="Shape 13"/>
          <p:cNvSpPr/>
          <p:nvPr/>
        </p:nvSpPr>
        <p:spPr>
          <a:xfrm>
            <a:off x="3172968" y="1234440"/>
            <a:ext cx="2788920" cy="548640"/>
          </a:xfrm>
          <a:prstGeom prst="rect">
            <a:avLst/>
          </a:prstGeom>
          <a:solidFill>
            <a:srgbClr val="F5A623"/>
          </a:solidFill>
          <a:ln w="12700">
            <a:solidFill>
              <a:srgbClr val="F5A623"/>
            </a:solidFill>
            <a:prstDash val="solid"/>
          </a:ln>
        </p:spPr>
        <p:txBody>
          <a:bodyPr/>
          <a:lstStyle/>
          <a:p>
            <a:endParaRPr lang="en-US"/>
          </a:p>
        </p:txBody>
      </p:sp>
      <p:sp>
        <p:nvSpPr>
          <p:cNvPr id="16" name="Text 14"/>
          <p:cNvSpPr/>
          <p:nvPr/>
        </p:nvSpPr>
        <p:spPr>
          <a:xfrm>
            <a:off x="3264408" y="1261872"/>
            <a:ext cx="2606040" cy="237744"/>
          </a:xfrm>
          <a:prstGeom prst="rect">
            <a:avLst/>
          </a:prstGeom>
          <a:noFill/>
          <a:ln/>
        </p:spPr>
        <p:txBody>
          <a:bodyPr wrap="square" rtlCol="0" anchor="ctr"/>
          <a:lstStyle/>
          <a:p>
            <a:pPr marL="0" indent="0" algn="ctr">
              <a:buNone/>
            </a:pPr>
            <a:r>
              <a:rPr lang="en-US" sz="1000" b="1" dirty="0">
                <a:solidFill>
                  <a:srgbClr val="FFFFFF"/>
                </a:solidFill>
              </a:rPr>
              <a:t>Days 31–60</a:t>
            </a:r>
            <a:endParaRPr lang="en-US" sz="1000" dirty="0"/>
          </a:p>
        </p:txBody>
      </p:sp>
      <p:sp>
        <p:nvSpPr>
          <p:cNvPr id="17" name="Text 15"/>
          <p:cNvSpPr/>
          <p:nvPr/>
        </p:nvSpPr>
        <p:spPr>
          <a:xfrm>
            <a:off x="3264408" y="1499616"/>
            <a:ext cx="2606040" cy="246888"/>
          </a:xfrm>
          <a:prstGeom prst="rect">
            <a:avLst/>
          </a:prstGeom>
          <a:noFill/>
          <a:ln/>
        </p:spPr>
        <p:txBody>
          <a:bodyPr wrap="square" rtlCol="0" anchor="ctr"/>
          <a:lstStyle/>
          <a:p>
            <a:pPr marL="0" indent="0" algn="ctr">
              <a:buNone/>
            </a:pPr>
            <a:r>
              <a:rPr lang="en-US" sz="1100" b="1" dirty="0">
                <a:solidFill>
                  <a:srgbClr val="FFFFFF"/>
                </a:solidFill>
              </a:rPr>
              <a:t>BUILD &amp; PILOT</a:t>
            </a:r>
            <a:endParaRPr lang="en-US" sz="1100" dirty="0"/>
          </a:p>
        </p:txBody>
      </p:sp>
      <p:sp>
        <p:nvSpPr>
          <p:cNvPr id="18" name="Text 16"/>
          <p:cNvSpPr/>
          <p:nvPr/>
        </p:nvSpPr>
        <p:spPr>
          <a:xfrm>
            <a:off x="3282696" y="1874520"/>
            <a:ext cx="2578608" cy="530352"/>
          </a:xfrm>
          <a:prstGeom prst="rect">
            <a:avLst/>
          </a:prstGeom>
          <a:noFill/>
          <a:ln/>
        </p:spPr>
        <p:txBody>
          <a:bodyPr wrap="square" rtlCol="0" anchor="ctr"/>
          <a:lstStyle/>
          <a:p>
            <a:pPr marL="0" indent="0">
              <a:buNone/>
            </a:pPr>
            <a:r>
              <a:rPr lang="en-US" sz="1050" dirty="0">
                <a:solidFill>
                  <a:srgbClr val="1A2B42"/>
                </a:solidFill>
              </a:rPr>
              <a:t>1.  Launch learning portal (Phase 1 tracks)</a:t>
            </a:r>
            <a:endParaRPr lang="en-US" sz="1050" dirty="0"/>
          </a:p>
        </p:txBody>
      </p:sp>
      <p:sp>
        <p:nvSpPr>
          <p:cNvPr id="19" name="Text 17"/>
          <p:cNvSpPr/>
          <p:nvPr/>
        </p:nvSpPr>
        <p:spPr>
          <a:xfrm>
            <a:off x="3282696" y="2450592"/>
            <a:ext cx="2578608" cy="530352"/>
          </a:xfrm>
          <a:prstGeom prst="rect">
            <a:avLst/>
          </a:prstGeom>
          <a:noFill/>
          <a:ln/>
        </p:spPr>
        <p:txBody>
          <a:bodyPr wrap="square" rtlCol="0" anchor="ctr"/>
          <a:lstStyle/>
          <a:p>
            <a:pPr marL="0" indent="0">
              <a:buNone/>
            </a:pPr>
            <a:r>
              <a:rPr lang="en-US" sz="1050" dirty="0">
                <a:solidFill>
                  <a:srgbClr val="1A2B42"/>
                </a:solidFill>
              </a:rPr>
              <a:t>2.  Roll out hybrid work pilot for 2 departments</a:t>
            </a:r>
            <a:endParaRPr lang="en-US" sz="1050" dirty="0"/>
          </a:p>
        </p:txBody>
      </p:sp>
      <p:sp>
        <p:nvSpPr>
          <p:cNvPr id="20" name="Text 18"/>
          <p:cNvSpPr/>
          <p:nvPr/>
        </p:nvSpPr>
        <p:spPr>
          <a:xfrm>
            <a:off x="3282696" y="3026664"/>
            <a:ext cx="2578608" cy="530352"/>
          </a:xfrm>
          <a:prstGeom prst="rect">
            <a:avLst/>
          </a:prstGeom>
          <a:noFill/>
          <a:ln/>
        </p:spPr>
        <p:txBody>
          <a:bodyPr wrap="square" rtlCol="0" anchor="ctr"/>
          <a:lstStyle/>
          <a:p>
            <a:pPr marL="0" indent="0">
              <a:buNone/>
            </a:pPr>
            <a:r>
              <a:rPr lang="en-US" sz="1050" dirty="0">
                <a:solidFill>
                  <a:srgbClr val="1A2B42"/>
                </a:solidFill>
              </a:rPr>
              <a:t>3.  Start leadership pipeline cohort 1</a:t>
            </a:r>
            <a:endParaRPr lang="en-US" sz="1050" dirty="0"/>
          </a:p>
        </p:txBody>
      </p:sp>
      <p:sp>
        <p:nvSpPr>
          <p:cNvPr id="21" name="Text 19"/>
          <p:cNvSpPr/>
          <p:nvPr/>
        </p:nvSpPr>
        <p:spPr>
          <a:xfrm>
            <a:off x="3282696" y="3602736"/>
            <a:ext cx="2578608" cy="530352"/>
          </a:xfrm>
          <a:prstGeom prst="rect">
            <a:avLst/>
          </a:prstGeom>
          <a:noFill/>
          <a:ln/>
        </p:spPr>
        <p:txBody>
          <a:bodyPr wrap="square" rtlCol="0" anchor="ctr"/>
          <a:lstStyle/>
          <a:p>
            <a:pPr marL="0" indent="0">
              <a:buNone/>
            </a:pPr>
            <a:r>
              <a:rPr lang="en-US" sz="1050" dirty="0">
                <a:solidFill>
                  <a:srgbClr val="1A2B42"/>
                </a:solidFill>
              </a:rPr>
              <a:t>4.  Implement peer-recognition program</a:t>
            </a:r>
            <a:endParaRPr lang="en-US" sz="1050" dirty="0"/>
          </a:p>
        </p:txBody>
      </p:sp>
      <p:sp>
        <p:nvSpPr>
          <p:cNvPr id="22" name="Text 20"/>
          <p:cNvSpPr/>
          <p:nvPr/>
        </p:nvSpPr>
        <p:spPr>
          <a:xfrm>
            <a:off x="3282696" y="4178808"/>
            <a:ext cx="2578608" cy="530352"/>
          </a:xfrm>
          <a:prstGeom prst="rect">
            <a:avLst/>
          </a:prstGeom>
          <a:noFill/>
          <a:ln/>
        </p:spPr>
        <p:txBody>
          <a:bodyPr wrap="square" rtlCol="0" anchor="ctr"/>
          <a:lstStyle/>
          <a:p>
            <a:pPr marL="0" indent="0">
              <a:buNone/>
            </a:pPr>
            <a:r>
              <a:rPr lang="en-US" sz="1050" dirty="0">
                <a:solidFill>
                  <a:srgbClr val="1A2B42"/>
                </a:solidFill>
              </a:rPr>
              <a:t>5.  Review onboarding process for New Hire Risk group</a:t>
            </a:r>
            <a:endParaRPr lang="en-US" sz="1050" dirty="0"/>
          </a:p>
        </p:txBody>
      </p:sp>
      <p:sp>
        <p:nvSpPr>
          <p:cNvPr id="23" name="Shape 21"/>
          <p:cNvSpPr/>
          <p:nvPr/>
        </p:nvSpPr>
        <p:spPr>
          <a:xfrm>
            <a:off x="6117336" y="1234440"/>
            <a:ext cx="2788920" cy="3520440"/>
          </a:xfrm>
          <a:prstGeom prst="rect">
            <a:avLst/>
          </a:prstGeom>
          <a:solidFill>
            <a:srgbClr val="E8F8F5"/>
          </a:solidFill>
          <a:ln w="12700">
            <a:solidFill>
              <a:srgbClr val="1ABC9C">
                <a:alpha val="50000"/>
              </a:srgbClr>
            </a:solidFill>
            <a:prstDash val="solid"/>
          </a:ln>
          <a:effectLst>
            <a:outerShdw blurRad="101600" dist="38100" dir="8100000" algn="bl" rotWithShape="0">
              <a:srgbClr val="000000">
                <a:alpha val="10000"/>
              </a:srgbClr>
            </a:outerShdw>
          </a:effectLst>
        </p:spPr>
        <p:txBody>
          <a:bodyPr/>
          <a:lstStyle/>
          <a:p>
            <a:endParaRPr lang="en-US"/>
          </a:p>
        </p:txBody>
      </p:sp>
      <p:sp>
        <p:nvSpPr>
          <p:cNvPr id="24" name="Shape 22"/>
          <p:cNvSpPr/>
          <p:nvPr/>
        </p:nvSpPr>
        <p:spPr>
          <a:xfrm>
            <a:off x="6117336" y="1234440"/>
            <a:ext cx="2788920" cy="548640"/>
          </a:xfrm>
          <a:prstGeom prst="rect">
            <a:avLst/>
          </a:prstGeom>
          <a:solidFill>
            <a:srgbClr val="1ABC9C"/>
          </a:solidFill>
          <a:ln w="12700">
            <a:solidFill>
              <a:srgbClr val="1ABC9C"/>
            </a:solidFill>
            <a:prstDash val="solid"/>
          </a:ln>
        </p:spPr>
        <p:txBody>
          <a:bodyPr/>
          <a:lstStyle/>
          <a:p>
            <a:endParaRPr lang="en-US"/>
          </a:p>
        </p:txBody>
      </p:sp>
      <p:sp>
        <p:nvSpPr>
          <p:cNvPr id="25" name="Text 23"/>
          <p:cNvSpPr/>
          <p:nvPr/>
        </p:nvSpPr>
        <p:spPr>
          <a:xfrm>
            <a:off x="6208776" y="1261872"/>
            <a:ext cx="2606040" cy="237744"/>
          </a:xfrm>
          <a:prstGeom prst="rect">
            <a:avLst/>
          </a:prstGeom>
          <a:noFill/>
          <a:ln/>
        </p:spPr>
        <p:txBody>
          <a:bodyPr wrap="square" rtlCol="0" anchor="ctr"/>
          <a:lstStyle/>
          <a:p>
            <a:pPr marL="0" indent="0" algn="ctr">
              <a:buNone/>
            </a:pPr>
            <a:r>
              <a:rPr lang="en-US" sz="1000" b="1" dirty="0">
                <a:solidFill>
                  <a:srgbClr val="FFFFFF"/>
                </a:solidFill>
              </a:rPr>
              <a:t>Days 61–90</a:t>
            </a:r>
            <a:endParaRPr lang="en-US" sz="1000" dirty="0"/>
          </a:p>
        </p:txBody>
      </p:sp>
      <p:sp>
        <p:nvSpPr>
          <p:cNvPr id="26" name="Text 24"/>
          <p:cNvSpPr/>
          <p:nvPr/>
        </p:nvSpPr>
        <p:spPr>
          <a:xfrm>
            <a:off x="6208776" y="1499616"/>
            <a:ext cx="2606040" cy="246888"/>
          </a:xfrm>
          <a:prstGeom prst="rect">
            <a:avLst/>
          </a:prstGeom>
          <a:noFill/>
          <a:ln/>
        </p:spPr>
        <p:txBody>
          <a:bodyPr wrap="square" rtlCol="0" anchor="ctr"/>
          <a:lstStyle/>
          <a:p>
            <a:pPr marL="0" indent="0" algn="ctr">
              <a:buNone/>
            </a:pPr>
            <a:r>
              <a:rPr lang="en-US" sz="1100" b="1" dirty="0">
                <a:solidFill>
                  <a:srgbClr val="FFFFFF"/>
                </a:solidFill>
              </a:rPr>
              <a:t>MEASURE &amp; ACCELERATE</a:t>
            </a:r>
            <a:endParaRPr lang="en-US" sz="1100" dirty="0"/>
          </a:p>
        </p:txBody>
      </p:sp>
      <p:sp>
        <p:nvSpPr>
          <p:cNvPr id="27" name="Text 25"/>
          <p:cNvSpPr/>
          <p:nvPr/>
        </p:nvSpPr>
        <p:spPr>
          <a:xfrm>
            <a:off x="6227064" y="1874520"/>
            <a:ext cx="2578608" cy="530352"/>
          </a:xfrm>
          <a:prstGeom prst="rect">
            <a:avLst/>
          </a:prstGeom>
          <a:noFill/>
          <a:ln/>
        </p:spPr>
        <p:txBody>
          <a:bodyPr wrap="square" rtlCol="0" anchor="ctr"/>
          <a:lstStyle/>
          <a:p>
            <a:pPr marL="0" indent="0">
              <a:buNone/>
            </a:pPr>
            <a:r>
              <a:rPr lang="en-US" sz="1050" dirty="0">
                <a:solidFill>
                  <a:srgbClr val="1A2B42"/>
                </a:solidFill>
              </a:rPr>
              <a:t>1.  Analyze pulse survey results vs baseline</a:t>
            </a:r>
            <a:endParaRPr lang="en-US" sz="1050" dirty="0"/>
          </a:p>
        </p:txBody>
      </p:sp>
      <p:sp>
        <p:nvSpPr>
          <p:cNvPr id="28" name="Text 26"/>
          <p:cNvSpPr/>
          <p:nvPr/>
        </p:nvSpPr>
        <p:spPr>
          <a:xfrm>
            <a:off x="6227064" y="2450592"/>
            <a:ext cx="2578608" cy="530352"/>
          </a:xfrm>
          <a:prstGeom prst="rect">
            <a:avLst/>
          </a:prstGeom>
          <a:noFill/>
          <a:ln/>
        </p:spPr>
        <p:txBody>
          <a:bodyPr wrap="square" rtlCol="0" anchor="ctr"/>
          <a:lstStyle/>
          <a:p>
            <a:pPr marL="0" indent="0">
              <a:buNone/>
            </a:pPr>
            <a:r>
              <a:rPr lang="en-US" sz="1050" dirty="0">
                <a:solidFill>
                  <a:srgbClr val="1A2B42"/>
                </a:solidFill>
              </a:rPr>
              <a:t>2.  Report on retention changes in at-risk groups</a:t>
            </a:r>
            <a:endParaRPr lang="en-US" sz="1050" dirty="0"/>
          </a:p>
        </p:txBody>
      </p:sp>
      <p:sp>
        <p:nvSpPr>
          <p:cNvPr id="29" name="Text 27"/>
          <p:cNvSpPr/>
          <p:nvPr/>
        </p:nvSpPr>
        <p:spPr>
          <a:xfrm>
            <a:off x="6227064" y="3026664"/>
            <a:ext cx="2578608" cy="530352"/>
          </a:xfrm>
          <a:prstGeom prst="rect">
            <a:avLst/>
          </a:prstGeom>
          <a:noFill/>
          <a:ln/>
        </p:spPr>
        <p:txBody>
          <a:bodyPr wrap="square" rtlCol="0" anchor="ctr"/>
          <a:lstStyle/>
          <a:p>
            <a:pPr marL="0" indent="0">
              <a:buNone/>
            </a:pPr>
            <a:r>
              <a:rPr lang="en-US" sz="1050" dirty="0">
                <a:solidFill>
                  <a:srgbClr val="1A2B42"/>
                </a:solidFill>
              </a:rPr>
              <a:t>3.  Expand hybrid pilot based on feedback</a:t>
            </a:r>
            <a:endParaRPr lang="en-US" sz="1050" dirty="0"/>
          </a:p>
        </p:txBody>
      </p:sp>
      <p:sp>
        <p:nvSpPr>
          <p:cNvPr id="30" name="Text 28"/>
          <p:cNvSpPr/>
          <p:nvPr/>
        </p:nvSpPr>
        <p:spPr>
          <a:xfrm>
            <a:off x="6227064" y="3602736"/>
            <a:ext cx="2578608" cy="530352"/>
          </a:xfrm>
          <a:prstGeom prst="rect">
            <a:avLst/>
          </a:prstGeom>
          <a:noFill/>
          <a:ln/>
        </p:spPr>
        <p:txBody>
          <a:bodyPr wrap="square" rtlCol="0" anchor="ctr"/>
          <a:lstStyle/>
          <a:p>
            <a:pPr marL="0" indent="0">
              <a:buNone/>
            </a:pPr>
            <a:r>
              <a:rPr lang="en-US" sz="1050" dirty="0">
                <a:solidFill>
                  <a:srgbClr val="1A2B42"/>
                </a:solidFill>
              </a:rPr>
              <a:t>4.  Celebrate early wins — publicly!</a:t>
            </a:r>
            <a:endParaRPr lang="en-US" sz="1050" dirty="0"/>
          </a:p>
        </p:txBody>
      </p:sp>
      <p:sp>
        <p:nvSpPr>
          <p:cNvPr id="31" name="Text 29"/>
          <p:cNvSpPr/>
          <p:nvPr/>
        </p:nvSpPr>
        <p:spPr>
          <a:xfrm>
            <a:off x="6227064" y="4178808"/>
            <a:ext cx="2578608" cy="530352"/>
          </a:xfrm>
          <a:prstGeom prst="rect">
            <a:avLst/>
          </a:prstGeom>
          <a:noFill/>
          <a:ln/>
        </p:spPr>
        <p:txBody>
          <a:bodyPr wrap="square" rtlCol="0" anchor="ctr"/>
          <a:lstStyle/>
          <a:p>
            <a:pPr marL="0" indent="0">
              <a:buNone/>
            </a:pPr>
            <a:r>
              <a:rPr lang="en-US" sz="1050" dirty="0">
                <a:solidFill>
                  <a:srgbClr val="1A2B42"/>
                </a:solidFill>
              </a:rPr>
              <a:t>5.  Set 6-month milestones with leadership</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6FF"/>
        </a:solidFill>
        <a:effectLst/>
      </p:bgPr>
    </p:bg>
    <p:spTree>
      <p:nvGrpSpPr>
        <p:cNvPr id="1" name=""/>
        <p:cNvGrpSpPr/>
        <p:nvPr/>
      </p:nvGrpSpPr>
      <p:grpSpPr>
        <a:xfrm>
          <a:off x="0" y="0"/>
          <a:ext cx="0" cy="0"/>
          <a:chOff x="0" y="0"/>
          <a:chExt cx="0" cy="0"/>
        </a:xfrm>
      </p:grpSpPr>
      <p:sp>
        <p:nvSpPr>
          <p:cNvPr id="2" name="Shape 0"/>
          <p:cNvSpPr/>
          <p:nvPr/>
        </p:nvSpPr>
        <p:spPr>
          <a:xfrm>
            <a:off x="-457200" y="-457200"/>
            <a:ext cx="3200400" cy="3200400"/>
          </a:xfrm>
          <a:prstGeom prst="ellipse">
            <a:avLst/>
          </a:prstGeom>
          <a:solidFill>
            <a:srgbClr val="1ABC9C">
              <a:alpha val="20000"/>
            </a:srgbClr>
          </a:solidFill>
          <a:ln w="12700">
            <a:solidFill>
              <a:srgbClr val="1ABC9C">
                <a:alpha val="20000"/>
              </a:srgbClr>
            </a:solidFill>
            <a:prstDash val="solid"/>
          </a:ln>
        </p:spPr>
        <p:txBody>
          <a:bodyPr/>
          <a:lstStyle/>
          <a:p>
            <a:endParaRPr lang="en-US"/>
          </a:p>
        </p:txBody>
      </p:sp>
      <p:sp>
        <p:nvSpPr>
          <p:cNvPr id="3" name="Shape 1"/>
          <p:cNvSpPr/>
          <p:nvPr/>
        </p:nvSpPr>
        <p:spPr>
          <a:xfrm>
            <a:off x="6858000" y="3200400"/>
            <a:ext cx="2743200" cy="2743200"/>
          </a:xfrm>
          <a:prstGeom prst="ellipse">
            <a:avLst/>
          </a:prstGeom>
          <a:solidFill>
            <a:srgbClr val="F5A623">
              <a:alpha val="20000"/>
            </a:srgbClr>
          </a:solidFill>
          <a:ln w="12700">
            <a:solidFill>
              <a:srgbClr val="F5A623">
                <a:alpha val="20000"/>
              </a:srgbClr>
            </a:solidFill>
            <a:prstDash val="solid"/>
          </a:ln>
        </p:spPr>
        <p:txBody>
          <a:bodyPr/>
          <a:lstStyle/>
          <a:p>
            <a:endParaRPr lang="en-US"/>
          </a:p>
        </p:txBody>
      </p:sp>
      <p:sp>
        <p:nvSpPr>
          <p:cNvPr id="4" name="Shape 2"/>
          <p:cNvSpPr/>
          <p:nvPr/>
        </p:nvSpPr>
        <p:spPr>
          <a:xfrm>
            <a:off x="7772400" y="-274320"/>
            <a:ext cx="1828800" cy="1828800"/>
          </a:xfrm>
          <a:prstGeom prst="ellipse">
            <a:avLst/>
          </a:prstGeom>
          <a:solidFill>
            <a:srgbClr val="8E44AD">
              <a:alpha val="15000"/>
            </a:srgbClr>
          </a:solidFill>
          <a:ln w="12700">
            <a:solidFill>
              <a:srgbClr val="8E44AD">
                <a:alpha val="15000"/>
              </a:srgbClr>
            </a:solidFill>
            <a:prstDash val="solid"/>
          </a:ln>
        </p:spPr>
        <p:txBody>
          <a:bodyPr/>
          <a:lstStyle/>
          <a:p>
            <a:endParaRPr lang="en-US"/>
          </a:p>
        </p:txBody>
      </p:sp>
      <p:sp>
        <p:nvSpPr>
          <p:cNvPr id="5" name="Shape 3"/>
          <p:cNvSpPr/>
          <p:nvPr/>
        </p:nvSpPr>
        <p:spPr>
          <a:xfrm>
            <a:off x="0" y="0"/>
            <a:ext cx="164592" cy="5143500"/>
          </a:xfrm>
          <a:prstGeom prst="rect">
            <a:avLst/>
          </a:prstGeom>
          <a:solidFill>
            <a:srgbClr val="1ABC9C"/>
          </a:solidFill>
          <a:ln w="12700">
            <a:solidFill>
              <a:srgbClr val="1ABC9C"/>
            </a:solidFill>
            <a:prstDash val="solid"/>
          </a:ln>
        </p:spPr>
        <p:txBody>
          <a:bodyPr/>
          <a:lstStyle/>
          <a:p>
            <a:endParaRPr lang="en-US"/>
          </a:p>
        </p:txBody>
      </p:sp>
      <p:sp>
        <p:nvSpPr>
          <p:cNvPr id="6" name="Text 4"/>
          <p:cNvSpPr/>
          <p:nvPr/>
        </p:nvSpPr>
        <p:spPr>
          <a:xfrm>
            <a:off x="365760" y="548640"/>
            <a:ext cx="8412480" cy="822960"/>
          </a:xfrm>
          <a:prstGeom prst="rect">
            <a:avLst/>
          </a:prstGeom>
          <a:noFill/>
          <a:ln/>
        </p:spPr>
        <p:txBody>
          <a:bodyPr wrap="square" rtlCol="0" anchor="ctr"/>
          <a:lstStyle/>
          <a:p>
            <a:pPr marL="0" indent="0" algn="l">
              <a:buNone/>
            </a:pPr>
            <a:r>
              <a:rPr lang="en-US" sz="4000" b="1" dirty="0">
                <a:solidFill>
                  <a:srgbClr val="1E3A5F"/>
                </a:solidFill>
                <a:latin typeface="Georgia" pitchFamily="34" charset="0"/>
                <a:ea typeface="Georgia" pitchFamily="34" charset="-122"/>
                <a:cs typeface="Georgia" pitchFamily="34" charset="-120"/>
              </a:rPr>
              <a:t>The Data Is Clear.</a:t>
            </a:r>
            <a:endParaRPr lang="en-US" sz="4000" dirty="0"/>
          </a:p>
        </p:txBody>
      </p:sp>
      <p:sp>
        <p:nvSpPr>
          <p:cNvPr id="7" name="Text 5"/>
          <p:cNvSpPr/>
          <p:nvPr/>
        </p:nvSpPr>
        <p:spPr>
          <a:xfrm>
            <a:off x="365760" y="1371600"/>
            <a:ext cx="8412480" cy="822960"/>
          </a:xfrm>
          <a:prstGeom prst="rect">
            <a:avLst/>
          </a:prstGeom>
          <a:noFill/>
          <a:ln/>
        </p:spPr>
        <p:txBody>
          <a:bodyPr wrap="square" rtlCol="0" anchor="ctr"/>
          <a:lstStyle/>
          <a:p>
            <a:pPr marL="0" indent="0" algn="l">
              <a:buNone/>
            </a:pPr>
            <a:r>
              <a:rPr lang="en-US" sz="3800" b="1" dirty="0">
                <a:solidFill>
                  <a:srgbClr val="1ABC9C"/>
                </a:solidFill>
                <a:latin typeface="Georgia" pitchFamily="34" charset="0"/>
                <a:ea typeface="Georgia" pitchFamily="34" charset="-122"/>
                <a:cs typeface="Georgia" pitchFamily="34" charset="-120"/>
              </a:rPr>
              <a:t>The Path Is Ours To Choose.</a:t>
            </a:r>
            <a:endParaRPr lang="en-US" sz="3800" dirty="0"/>
          </a:p>
        </p:txBody>
      </p:sp>
      <p:sp>
        <p:nvSpPr>
          <p:cNvPr id="8" name="Text 6"/>
          <p:cNvSpPr/>
          <p:nvPr/>
        </p:nvSpPr>
        <p:spPr>
          <a:xfrm>
            <a:off x="365760" y="2331720"/>
            <a:ext cx="7315200" cy="1005840"/>
          </a:xfrm>
          <a:prstGeom prst="rect">
            <a:avLst/>
          </a:prstGeom>
          <a:noFill/>
          <a:ln/>
        </p:spPr>
        <p:txBody>
          <a:bodyPr wrap="square" rtlCol="0" anchor="ctr"/>
          <a:lstStyle/>
          <a:p>
            <a:pPr marL="0" indent="0" algn="l">
              <a:buNone/>
            </a:pPr>
            <a:r>
              <a:rPr lang="en-US" sz="1400" i="1" dirty="0">
                <a:solidFill>
                  <a:srgbClr val="4A5568"/>
                </a:solidFill>
              </a:rPr>
              <a:t>47% attrition is not the end of our story — it's the beginning of our next chapter. We have the insights, we have each other, and we have an incredible opportunity to build something our people are proud to be part of.</a:t>
            </a:r>
            <a:endParaRPr lang="en-US" sz="1400" dirty="0"/>
          </a:p>
        </p:txBody>
      </p:sp>
      <p:sp>
        <p:nvSpPr>
          <p:cNvPr id="9" name="Text 7"/>
          <p:cNvSpPr/>
          <p:nvPr/>
        </p:nvSpPr>
        <p:spPr>
          <a:xfrm>
            <a:off x="365760" y="3429000"/>
            <a:ext cx="7772400" cy="457200"/>
          </a:xfrm>
          <a:prstGeom prst="rect">
            <a:avLst/>
          </a:prstGeom>
          <a:noFill/>
          <a:ln/>
        </p:spPr>
        <p:txBody>
          <a:bodyPr wrap="square" rtlCol="0" anchor="ctr"/>
          <a:lstStyle/>
          <a:p>
            <a:pPr marL="0" indent="0" algn="l">
              <a:buNone/>
            </a:pPr>
            <a:r>
              <a:rPr lang="en-US" sz="1600" b="1" dirty="0">
                <a:solidFill>
                  <a:srgbClr val="2A5298"/>
                </a:solidFill>
              </a:rPr>
              <a:t>Together, let's make this the year we turned it around. 🚀</a:t>
            </a:r>
            <a:endParaRPr lang="en-US" sz="1600" dirty="0"/>
          </a:p>
        </p:txBody>
      </p:sp>
      <p:sp>
        <p:nvSpPr>
          <p:cNvPr id="10" name="Shape 8"/>
          <p:cNvSpPr/>
          <p:nvPr/>
        </p:nvSpPr>
        <p:spPr>
          <a:xfrm>
            <a:off x="0" y="4572000"/>
            <a:ext cx="9144000" cy="571500"/>
          </a:xfrm>
          <a:prstGeom prst="rect">
            <a:avLst/>
          </a:prstGeom>
          <a:solidFill>
            <a:srgbClr val="1E3A5F"/>
          </a:solidFill>
          <a:ln w="12700">
            <a:solidFill>
              <a:srgbClr val="1E3A5F"/>
            </a:solidFill>
            <a:prstDash val="solid"/>
          </a:ln>
        </p:spPr>
        <p:txBody>
          <a:bodyPr/>
          <a:lstStyle/>
          <a:p>
            <a:endParaRPr lang="en-US"/>
          </a:p>
        </p:txBody>
      </p:sp>
      <p:sp>
        <p:nvSpPr>
          <p:cNvPr id="11" name="Text 9"/>
          <p:cNvSpPr/>
          <p:nvPr/>
        </p:nvSpPr>
        <p:spPr>
          <a:xfrm>
            <a:off x="365760" y="4617720"/>
            <a:ext cx="8412480" cy="475488"/>
          </a:xfrm>
          <a:prstGeom prst="rect">
            <a:avLst/>
          </a:prstGeom>
          <a:noFill/>
          <a:ln/>
        </p:spPr>
        <p:txBody>
          <a:bodyPr wrap="square" rtlCol="0" anchor="ctr"/>
          <a:lstStyle/>
          <a:p>
            <a:pPr marL="0" indent="0" algn="ctr">
              <a:buNone/>
            </a:pPr>
            <a:r>
              <a:rPr lang="en-US" sz="1200" dirty="0">
                <a:solidFill>
                  <a:srgbClr val="FFFFFF"/>
                </a:solidFill>
              </a:rPr>
              <a:t>Thank you  •  Questions welcome  •  Human Resources  |  2025–2026 People Insights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1498</Words>
  <Application>Microsoft Macintosh PowerPoint</Application>
  <PresentationFormat>On-screen Show (16:9)</PresentationFormat>
  <Paragraphs>176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People Insights 2025-2026</dc:title>
  <dc:subject>PptxGenJS Presentation</dc:subject>
  <dc:creator>PptxGenJS</dc:creator>
  <cp:lastModifiedBy>Vera, Erick</cp:lastModifiedBy>
  <cp:revision>2</cp:revision>
  <dcterms:created xsi:type="dcterms:W3CDTF">2026-03-16T17:04:28Z</dcterms:created>
  <dcterms:modified xsi:type="dcterms:W3CDTF">2026-03-16T17:31:33Z</dcterms:modified>
</cp:coreProperties>
</file>